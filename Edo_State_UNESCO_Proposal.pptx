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2" d="100"/>
          <a:sy n="92" d="100"/>
        </p:scale>
        <p:origin x="307"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097280"/>
            <a:ext cx="22860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10058400" cy="457200"/>
          </a:xfrm>
          <a:prstGeom prst="rect">
            <a:avLst/>
          </a:prstGeom>
          <a:noFill/>
        </p:spPr>
        <p:txBody>
          <a:bodyPr wrap="square">
            <a:spAutoFit/>
          </a:bodyPr>
          <a:lstStyle/>
          <a:p>
            <a:pPr algn="l">
              <a:defRPr sz="1600" b="0">
                <a:solidFill>
                  <a:srgbClr val="C9A227"/>
                </a:solidFill>
                <a:latin typeface="Calibri"/>
              </a:defRPr>
            </a:pPr>
            <a:r>
              <a:t>EDO STATE GOVERNMENT OF NIGERIA</a:t>
            </a:r>
          </a:p>
        </p:txBody>
      </p:sp>
      <p:sp>
        <p:nvSpPr>
          <p:cNvPr id="6" name="TextBox 5"/>
          <p:cNvSpPr txBox="1"/>
          <p:nvPr/>
        </p:nvSpPr>
        <p:spPr>
          <a:xfrm>
            <a:off x="731520" y="1691640"/>
            <a:ext cx="10058400" cy="365760"/>
          </a:xfrm>
          <a:prstGeom prst="rect">
            <a:avLst/>
          </a:prstGeom>
          <a:noFill/>
        </p:spPr>
        <p:txBody>
          <a:bodyPr wrap="square">
            <a:spAutoFit/>
          </a:bodyPr>
          <a:lstStyle/>
          <a:p>
            <a:pPr algn="l">
              <a:defRPr sz="1400" b="0">
                <a:solidFill>
                  <a:srgbClr val="AAAAAA"/>
                </a:solidFill>
                <a:latin typeface="Calibri"/>
              </a:defRPr>
            </a:pPr>
            <a:r>
              <a:t>MINISTRY OF COMMUNICATION AND DIGITAL ECONOMY</a:t>
            </a:r>
          </a:p>
        </p:txBody>
      </p:sp>
      <p:sp>
        <p:nvSpPr>
          <p:cNvPr id="7" name="TextBox 6"/>
          <p:cNvSpPr txBox="1"/>
          <p:nvPr/>
        </p:nvSpPr>
        <p:spPr>
          <a:xfrm>
            <a:off x="731520" y="2377440"/>
            <a:ext cx="10515600" cy="1097280"/>
          </a:xfrm>
          <a:prstGeom prst="rect">
            <a:avLst/>
          </a:prstGeom>
          <a:noFill/>
        </p:spPr>
        <p:txBody>
          <a:bodyPr wrap="square">
            <a:spAutoFit/>
          </a:bodyPr>
          <a:lstStyle/>
          <a:p>
            <a:pPr algn="l">
              <a:defRPr sz="4800" b="1">
                <a:solidFill>
                  <a:srgbClr val="FFFFFF"/>
                </a:solidFill>
                <a:latin typeface="Calibri"/>
              </a:defRPr>
            </a:pPr>
            <a:r>
              <a:t>UNESCO FUNDING SUPPORT AND</a:t>
            </a:r>
            <a:br/>
            <a:r>
              <a:t>COLLABORATION PROPOSAL</a:t>
            </a:r>
          </a:p>
        </p:txBody>
      </p:sp>
      <p:sp>
        <p:nvSpPr>
          <p:cNvPr id="8" name="TextBox 7"/>
          <p:cNvSpPr txBox="1"/>
          <p:nvPr/>
        </p:nvSpPr>
        <p:spPr>
          <a:xfrm>
            <a:off x="731520" y="3931920"/>
            <a:ext cx="9144000" cy="731520"/>
          </a:xfrm>
          <a:prstGeom prst="rect">
            <a:avLst/>
          </a:prstGeom>
          <a:noFill/>
        </p:spPr>
        <p:txBody>
          <a:bodyPr wrap="square">
            <a:spAutoFit/>
          </a:bodyPr>
          <a:lstStyle/>
          <a:p>
            <a:pPr algn="l">
              <a:defRPr sz="1600" b="0">
                <a:solidFill>
                  <a:srgbClr val="CCCCCC"/>
                </a:solidFill>
                <a:latin typeface="Calibri"/>
              </a:defRPr>
            </a:pPr>
            <a:r>
              <a:t>Digital Transformation • Capacity Building • Data Sovereignty • Innovation • Education • Environmental Management • Cultural Heritage</a:t>
            </a:r>
          </a:p>
        </p:txBody>
      </p:sp>
      <p:sp>
        <p:nvSpPr>
          <p:cNvPr id="9" name="Rectangle 8"/>
          <p:cNvSpPr/>
          <p:nvPr/>
        </p:nvSpPr>
        <p:spPr>
          <a:xfrm>
            <a:off x="731520" y="5303520"/>
            <a:ext cx="36576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5577840"/>
            <a:ext cx="4114800" cy="640080"/>
          </a:xfrm>
          <a:prstGeom prst="round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5687568"/>
            <a:ext cx="4114800" cy="457200"/>
          </a:xfrm>
          <a:prstGeom prst="rect">
            <a:avLst/>
          </a:prstGeom>
          <a:noFill/>
        </p:spPr>
        <p:txBody>
          <a:bodyPr wrap="square">
            <a:spAutoFit/>
          </a:bodyPr>
          <a:lstStyle/>
          <a:p>
            <a:pPr algn="ctr">
              <a:defRPr sz="2000" b="1">
                <a:solidFill>
                  <a:srgbClr val="0D1B2A"/>
                </a:solidFill>
                <a:latin typeface="Calibri"/>
              </a:defRPr>
            </a:pPr>
            <a:r>
              <a:t>Indicative Funding: US$3,950,000</a:t>
            </a:r>
          </a:p>
        </p:txBody>
      </p:sp>
      <p:sp>
        <p:nvSpPr>
          <p:cNvPr id="12" name="TextBox 11"/>
          <p:cNvSpPr txBox="1"/>
          <p:nvPr/>
        </p:nvSpPr>
        <p:spPr>
          <a:xfrm>
            <a:off x="7772400" y="5943600"/>
            <a:ext cx="3657600" cy="457200"/>
          </a:xfrm>
          <a:prstGeom prst="rect">
            <a:avLst/>
          </a:prstGeom>
          <a:noFill/>
        </p:spPr>
        <p:txBody>
          <a:bodyPr wrap="square">
            <a:spAutoFit/>
          </a:bodyPr>
          <a:lstStyle/>
          <a:p>
            <a:pPr algn="r">
              <a:defRPr sz="1200" b="0">
                <a:solidFill>
                  <a:srgbClr val="888888"/>
                </a:solidFill>
                <a:latin typeface="Calibri"/>
              </a:defRPr>
            </a:pPr>
            <a:r>
              <a:t>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3200" b="1">
                <a:solidFill>
                  <a:srgbClr val="0D1B2A"/>
                </a:solidFill>
                <a:latin typeface="Calibri"/>
              </a:defRPr>
            </a:pPr>
            <a:r>
              <a:t>EXECUTIVE SUMMARY</a:t>
            </a:r>
          </a:p>
        </p:txBody>
      </p:sp>
      <p:sp>
        <p:nvSpPr>
          <p:cNvPr id="6" name="TextBox 5"/>
          <p:cNvSpPr txBox="1"/>
          <p:nvPr/>
        </p:nvSpPr>
        <p:spPr>
          <a:xfrm>
            <a:off x="731520" y="1463040"/>
            <a:ext cx="7315200" cy="4114800"/>
          </a:xfrm>
          <a:prstGeom prst="rect">
            <a:avLst/>
          </a:prstGeom>
          <a:noFill/>
        </p:spPr>
        <p:txBody>
          <a:bodyPr wrap="square">
            <a:spAutoFit/>
          </a:bodyPr>
          <a:lstStyle/>
          <a:p>
            <a:pPr algn="l">
              <a:defRPr sz="1600" b="0">
                <a:solidFill>
                  <a:srgbClr val="1A1A1A"/>
                </a:solidFill>
                <a:latin typeface="Calibri"/>
              </a:defRPr>
            </a:pPr>
            <a:r>
              <a:t>The Edo State Government, through the Ministry of Communication and Digital Economy, seeks UNESCO funding support and strategic collaboration for a coordinated portfolio of ten digital transformation and capacity-building initiatives.</a:t>
            </a:r>
            <a:br/>
            <a:br/>
            <a:r>
              <a:t>The portfolio combines skills development, education technology, responsible artificial intelligence, protected data analysis, environmental management, public reporting, digital government, cultural heritage documentation and technology exhibition.</a:t>
            </a:r>
            <a:br/>
            <a:br/>
            <a:r>
              <a:t>The proposal is designed around a local ownership model: the Ministry will provide technical leadership and implementation capacity, while requested external support will principally address financing, specialised expertise, equipment, training resources, independent assurance, knowledge exchange and scale-up.</a:t>
            </a:r>
          </a:p>
        </p:txBody>
      </p:sp>
      <p:sp>
        <p:nvSpPr>
          <p:cNvPr id="7" name="Rounded Rectangle 6"/>
          <p:cNvSpPr/>
          <p:nvPr/>
        </p:nvSpPr>
        <p:spPr>
          <a:xfrm>
            <a:off x="8412480" y="1463040"/>
            <a:ext cx="3200400" cy="411480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0" y="1645920"/>
            <a:ext cx="2834640" cy="457200"/>
          </a:xfrm>
          <a:prstGeom prst="rect">
            <a:avLst/>
          </a:prstGeom>
          <a:noFill/>
        </p:spPr>
        <p:txBody>
          <a:bodyPr wrap="square">
            <a:spAutoFit/>
          </a:bodyPr>
          <a:lstStyle/>
          <a:p>
            <a:pPr algn="l">
              <a:defRPr sz="1600" b="1">
                <a:solidFill>
                  <a:srgbClr val="C9A227"/>
                </a:solidFill>
                <a:latin typeface="Calibri"/>
              </a:defRPr>
            </a:pPr>
            <a:r>
              <a:t>KEY HIGHLIGHTS</a:t>
            </a:r>
          </a:p>
        </p:txBody>
      </p:sp>
      <p:sp>
        <p:nvSpPr>
          <p:cNvPr id="9" name="TextBox 8"/>
          <p:cNvSpPr txBox="1"/>
          <p:nvPr/>
        </p:nvSpPr>
        <p:spPr>
          <a:xfrm>
            <a:off x="8595360" y="2103120"/>
            <a:ext cx="2834640" cy="457200"/>
          </a:xfrm>
          <a:prstGeom prst="rect">
            <a:avLst/>
          </a:prstGeom>
          <a:noFill/>
        </p:spPr>
        <p:txBody>
          <a:bodyPr wrap="square">
            <a:spAutoFit/>
          </a:bodyPr>
          <a:lstStyle/>
          <a:p>
            <a:pPr algn="l">
              <a:defRPr sz="1400" b="0">
                <a:solidFill>
                  <a:srgbClr val="FFFFFF"/>
                </a:solidFill>
                <a:latin typeface="Calibri"/>
              </a:defRPr>
            </a:pPr>
            <a:r>
              <a:t>▸  10 Integrated Digital Initiatives</a:t>
            </a:r>
          </a:p>
        </p:txBody>
      </p:sp>
      <p:sp>
        <p:nvSpPr>
          <p:cNvPr id="10" name="TextBox 9"/>
          <p:cNvSpPr txBox="1"/>
          <p:nvPr/>
        </p:nvSpPr>
        <p:spPr>
          <a:xfrm>
            <a:off x="8595360" y="2606039"/>
            <a:ext cx="2834640" cy="457200"/>
          </a:xfrm>
          <a:prstGeom prst="rect">
            <a:avLst/>
          </a:prstGeom>
          <a:noFill/>
        </p:spPr>
        <p:txBody>
          <a:bodyPr wrap="square">
            <a:spAutoFit/>
          </a:bodyPr>
          <a:lstStyle/>
          <a:p>
            <a:pPr algn="l">
              <a:defRPr sz="1400" b="0">
                <a:solidFill>
                  <a:srgbClr val="FFFFFF"/>
                </a:solidFill>
                <a:latin typeface="Calibri"/>
              </a:defRPr>
            </a:pPr>
            <a:r>
              <a:t>▸  US$3.95M Indicative Budget</a:t>
            </a:r>
          </a:p>
        </p:txBody>
      </p:sp>
      <p:sp>
        <p:nvSpPr>
          <p:cNvPr id="11" name="TextBox 10"/>
          <p:cNvSpPr txBox="1"/>
          <p:nvPr/>
        </p:nvSpPr>
        <p:spPr>
          <a:xfrm>
            <a:off x="8595360" y="3108960"/>
            <a:ext cx="2834640" cy="457200"/>
          </a:xfrm>
          <a:prstGeom prst="rect">
            <a:avLst/>
          </a:prstGeom>
          <a:noFill/>
        </p:spPr>
        <p:txBody>
          <a:bodyPr wrap="square">
            <a:spAutoFit/>
          </a:bodyPr>
          <a:lstStyle/>
          <a:p>
            <a:pPr algn="l">
              <a:defRPr sz="1400" b="0">
                <a:solidFill>
                  <a:srgbClr val="FFFFFF"/>
                </a:solidFill>
                <a:latin typeface="Calibri"/>
              </a:defRPr>
            </a:pPr>
            <a:r>
              <a:t>▸  36-Month Implementation</a:t>
            </a:r>
          </a:p>
        </p:txBody>
      </p:sp>
      <p:sp>
        <p:nvSpPr>
          <p:cNvPr id="12" name="TextBox 11"/>
          <p:cNvSpPr txBox="1"/>
          <p:nvPr/>
        </p:nvSpPr>
        <p:spPr>
          <a:xfrm>
            <a:off x="8595360" y="3611880"/>
            <a:ext cx="2834640" cy="457200"/>
          </a:xfrm>
          <a:prstGeom prst="rect">
            <a:avLst/>
          </a:prstGeom>
          <a:noFill/>
        </p:spPr>
        <p:txBody>
          <a:bodyPr wrap="square">
            <a:spAutoFit/>
          </a:bodyPr>
          <a:lstStyle/>
          <a:p>
            <a:pPr algn="l">
              <a:defRPr sz="1400" b="0">
                <a:solidFill>
                  <a:srgbClr val="FFFFFF"/>
                </a:solidFill>
                <a:latin typeface="Calibri"/>
              </a:defRPr>
            </a:pPr>
            <a:r>
              <a:t>▸  Local Ownership Model</a:t>
            </a:r>
          </a:p>
        </p:txBody>
      </p:sp>
      <p:sp>
        <p:nvSpPr>
          <p:cNvPr id="13" name="TextBox 12"/>
          <p:cNvSpPr txBox="1"/>
          <p:nvPr/>
        </p:nvSpPr>
        <p:spPr>
          <a:xfrm>
            <a:off x="8595360" y="4114800"/>
            <a:ext cx="2834640" cy="457200"/>
          </a:xfrm>
          <a:prstGeom prst="rect">
            <a:avLst/>
          </a:prstGeom>
          <a:noFill/>
        </p:spPr>
        <p:txBody>
          <a:bodyPr wrap="square">
            <a:spAutoFit/>
          </a:bodyPr>
          <a:lstStyle/>
          <a:p>
            <a:pPr algn="l">
              <a:defRPr sz="1400" b="0">
                <a:solidFill>
                  <a:srgbClr val="FFFFFF"/>
                </a:solidFill>
                <a:latin typeface="Calibri"/>
              </a:defRPr>
            </a:pPr>
            <a:r>
              <a:t>▸  Skills + Systems + Innovation</a:t>
            </a:r>
          </a:p>
        </p:txBody>
      </p:sp>
      <p:sp>
        <p:nvSpPr>
          <p:cNvPr id="14" name="TextBox 13"/>
          <p:cNvSpPr txBox="1"/>
          <p:nvPr/>
        </p:nvSpPr>
        <p:spPr>
          <a:xfrm>
            <a:off x="8595360" y="4617720"/>
            <a:ext cx="2834640" cy="457200"/>
          </a:xfrm>
          <a:prstGeom prst="rect">
            <a:avLst/>
          </a:prstGeom>
          <a:noFill/>
        </p:spPr>
        <p:txBody>
          <a:bodyPr wrap="square">
            <a:spAutoFit/>
          </a:bodyPr>
          <a:lstStyle/>
          <a:p>
            <a:pPr algn="l">
              <a:defRPr sz="1400" b="0">
                <a:solidFill>
                  <a:srgbClr val="FFFFFF"/>
                </a:solidFill>
                <a:latin typeface="Calibri"/>
              </a:defRPr>
            </a:pPr>
            <a:r>
              <a:t>▸  Cross-Sector Impact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3200" b="1">
                <a:solidFill>
                  <a:srgbClr val="0D1B2A"/>
                </a:solidFill>
                <a:latin typeface="Calibri"/>
              </a:defRPr>
            </a:pPr>
            <a:r>
              <a:t>STRATEGIC RATIONALE &amp; UNESCO ALIGNMENT</a:t>
            </a:r>
          </a:p>
        </p:txBody>
      </p:sp>
      <p:sp>
        <p:nvSpPr>
          <p:cNvPr id="6" name="Rounded Rectangle 5"/>
          <p:cNvSpPr/>
          <p:nvPr/>
        </p:nvSpPr>
        <p:spPr>
          <a:xfrm>
            <a:off x="731520" y="1463040"/>
            <a:ext cx="5303520" cy="475488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4880" y="1623060"/>
            <a:ext cx="4937760" cy="365760"/>
          </a:xfrm>
          <a:prstGeom prst="rect">
            <a:avLst/>
          </a:prstGeom>
          <a:noFill/>
        </p:spPr>
        <p:txBody>
          <a:bodyPr wrap="square">
            <a:spAutoFit/>
          </a:bodyPr>
          <a:lstStyle/>
          <a:p>
            <a:pPr algn="l">
              <a:defRPr sz="1600" b="1">
                <a:solidFill>
                  <a:srgbClr val="1B3A5C"/>
                </a:solidFill>
                <a:latin typeface="Calibri"/>
              </a:defRPr>
            </a:pPr>
            <a:r>
              <a:rPr dirty="0"/>
              <a:t>UNESCO PRIORITIES SUPPORTED</a:t>
            </a:r>
          </a:p>
        </p:txBody>
      </p:sp>
      <p:sp>
        <p:nvSpPr>
          <p:cNvPr id="8" name="TextBox 7"/>
          <p:cNvSpPr txBox="1"/>
          <p:nvPr/>
        </p:nvSpPr>
        <p:spPr>
          <a:xfrm>
            <a:off x="914400" y="2011680"/>
            <a:ext cx="4937760" cy="457200"/>
          </a:xfrm>
          <a:prstGeom prst="rect">
            <a:avLst/>
          </a:prstGeom>
          <a:noFill/>
        </p:spPr>
        <p:txBody>
          <a:bodyPr wrap="square">
            <a:spAutoFit/>
          </a:bodyPr>
          <a:lstStyle/>
          <a:p>
            <a:pPr algn="l">
              <a:defRPr sz="1400" b="0">
                <a:solidFill>
                  <a:srgbClr val="1A1A1A"/>
                </a:solidFill>
                <a:latin typeface="Calibri"/>
              </a:defRPr>
            </a:pPr>
            <a:r>
              <a:t>•  Inclusive and quality education and lifelong learning</a:t>
            </a:r>
          </a:p>
        </p:txBody>
      </p:sp>
      <p:sp>
        <p:nvSpPr>
          <p:cNvPr id="9" name="TextBox 8"/>
          <p:cNvSpPr txBox="1"/>
          <p:nvPr/>
        </p:nvSpPr>
        <p:spPr>
          <a:xfrm>
            <a:off x="914400" y="2514600"/>
            <a:ext cx="4937760" cy="457200"/>
          </a:xfrm>
          <a:prstGeom prst="rect">
            <a:avLst/>
          </a:prstGeom>
          <a:noFill/>
        </p:spPr>
        <p:txBody>
          <a:bodyPr wrap="square">
            <a:spAutoFit/>
          </a:bodyPr>
          <a:lstStyle/>
          <a:p>
            <a:pPr algn="l">
              <a:defRPr sz="1400" b="0">
                <a:solidFill>
                  <a:srgbClr val="1A1A1A"/>
                </a:solidFill>
                <a:latin typeface="Calibri"/>
              </a:defRPr>
            </a:pPr>
            <a:r>
              <a:t>•  Development of digital and AI competencies</a:t>
            </a:r>
          </a:p>
        </p:txBody>
      </p:sp>
      <p:sp>
        <p:nvSpPr>
          <p:cNvPr id="10" name="TextBox 9"/>
          <p:cNvSpPr txBox="1"/>
          <p:nvPr/>
        </p:nvSpPr>
        <p:spPr>
          <a:xfrm>
            <a:off x="914400" y="3017520"/>
            <a:ext cx="4937760" cy="457200"/>
          </a:xfrm>
          <a:prstGeom prst="rect">
            <a:avLst/>
          </a:prstGeom>
          <a:noFill/>
        </p:spPr>
        <p:txBody>
          <a:bodyPr wrap="square">
            <a:spAutoFit/>
          </a:bodyPr>
          <a:lstStyle/>
          <a:p>
            <a:pPr algn="l">
              <a:defRPr sz="1400" b="0">
                <a:solidFill>
                  <a:srgbClr val="1A1A1A"/>
                </a:solidFill>
                <a:latin typeface="Calibri"/>
              </a:defRPr>
            </a:pPr>
            <a:r>
              <a:t>•  Responsible and human-centred technology</a:t>
            </a:r>
          </a:p>
        </p:txBody>
      </p:sp>
      <p:sp>
        <p:nvSpPr>
          <p:cNvPr id="11" name="TextBox 10"/>
          <p:cNvSpPr txBox="1"/>
          <p:nvPr/>
        </p:nvSpPr>
        <p:spPr>
          <a:xfrm>
            <a:off x="914400" y="3520440"/>
            <a:ext cx="4937760" cy="457200"/>
          </a:xfrm>
          <a:prstGeom prst="rect">
            <a:avLst/>
          </a:prstGeom>
          <a:noFill/>
        </p:spPr>
        <p:txBody>
          <a:bodyPr wrap="square">
            <a:spAutoFit/>
          </a:bodyPr>
          <a:lstStyle/>
          <a:p>
            <a:pPr algn="l">
              <a:defRPr sz="1400" b="0">
                <a:solidFill>
                  <a:srgbClr val="1A1A1A"/>
                </a:solidFill>
                <a:latin typeface="Calibri"/>
              </a:defRPr>
            </a:pPr>
            <a:r>
              <a:t>•  Strengthening institutional capacity in Africa</a:t>
            </a:r>
          </a:p>
        </p:txBody>
      </p:sp>
      <p:sp>
        <p:nvSpPr>
          <p:cNvPr id="12" name="TextBox 11"/>
          <p:cNvSpPr txBox="1"/>
          <p:nvPr/>
        </p:nvSpPr>
        <p:spPr>
          <a:xfrm>
            <a:off x="914400" y="4023360"/>
            <a:ext cx="4937760" cy="457200"/>
          </a:xfrm>
          <a:prstGeom prst="rect">
            <a:avLst/>
          </a:prstGeom>
          <a:noFill/>
        </p:spPr>
        <p:txBody>
          <a:bodyPr wrap="square">
            <a:spAutoFit/>
          </a:bodyPr>
          <a:lstStyle/>
          <a:p>
            <a:pPr algn="l">
              <a:defRPr sz="1400" b="0">
                <a:solidFill>
                  <a:srgbClr val="1A1A1A"/>
                </a:solidFill>
                <a:latin typeface="Calibri"/>
              </a:defRPr>
            </a:pPr>
            <a:r>
              <a:t>•  Environmental sustainability</a:t>
            </a:r>
          </a:p>
        </p:txBody>
      </p:sp>
      <p:sp>
        <p:nvSpPr>
          <p:cNvPr id="13" name="TextBox 12"/>
          <p:cNvSpPr txBox="1"/>
          <p:nvPr/>
        </p:nvSpPr>
        <p:spPr>
          <a:xfrm>
            <a:off x="914400" y="4526280"/>
            <a:ext cx="4937760" cy="523220"/>
          </a:xfrm>
          <a:prstGeom prst="rect">
            <a:avLst/>
          </a:prstGeom>
          <a:noFill/>
        </p:spPr>
        <p:txBody>
          <a:bodyPr wrap="square">
            <a:spAutoFit/>
          </a:bodyPr>
          <a:lstStyle/>
          <a:p>
            <a:pPr algn="l">
              <a:defRPr sz="1400" b="0">
                <a:solidFill>
                  <a:srgbClr val="1A1A1A"/>
                </a:solidFill>
                <a:latin typeface="Calibri"/>
              </a:defRPr>
            </a:pPr>
            <a:r>
              <a:rPr dirty="0"/>
              <a:t>•  Preservation and responsible documentation of cultural </a:t>
            </a:r>
            <a:r>
              <a:rPr lang="en-US" dirty="0"/>
              <a:t>         </a:t>
            </a:r>
            <a:r>
              <a:rPr dirty="0"/>
              <a:t>heritage</a:t>
            </a:r>
          </a:p>
        </p:txBody>
      </p:sp>
      <p:sp>
        <p:nvSpPr>
          <p:cNvPr id="14" name="TextBox 13"/>
          <p:cNvSpPr txBox="1"/>
          <p:nvPr/>
        </p:nvSpPr>
        <p:spPr>
          <a:xfrm>
            <a:off x="914400" y="5029200"/>
            <a:ext cx="4937760" cy="457200"/>
          </a:xfrm>
          <a:prstGeom prst="rect">
            <a:avLst/>
          </a:prstGeom>
          <a:noFill/>
        </p:spPr>
        <p:txBody>
          <a:bodyPr wrap="square">
            <a:spAutoFit/>
          </a:bodyPr>
          <a:lstStyle/>
          <a:p>
            <a:pPr algn="l">
              <a:defRPr sz="1400" b="0">
                <a:solidFill>
                  <a:srgbClr val="1A1A1A"/>
                </a:solidFill>
                <a:latin typeface="Calibri"/>
              </a:defRPr>
            </a:pPr>
            <a:r>
              <a:t>•  Innovation for public benefit</a:t>
            </a:r>
          </a:p>
        </p:txBody>
      </p:sp>
      <p:sp>
        <p:nvSpPr>
          <p:cNvPr id="15" name="Rounded Rectangle 14"/>
          <p:cNvSpPr/>
          <p:nvPr/>
        </p:nvSpPr>
        <p:spPr>
          <a:xfrm>
            <a:off x="6309360" y="1463040"/>
            <a:ext cx="5120640" cy="47548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600200"/>
            <a:ext cx="4754880" cy="365760"/>
          </a:xfrm>
          <a:prstGeom prst="rect">
            <a:avLst/>
          </a:prstGeom>
          <a:noFill/>
        </p:spPr>
        <p:txBody>
          <a:bodyPr wrap="square">
            <a:spAutoFit/>
          </a:bodyPr>
          <a:lstStyle/>
          <a:p>
            <a:pPr algn="l">
              <a:defRPr sz="1600" b="1">
                <a:solidFill>
                  <a:srgbClr val="C9A227"/>
                </a:solidFill>
                <a:latin typeface="Calibri"/>
              </a:defRPr>
            </a:pPr>
            <a:r>
              <a:t>ALIGNMENT WITH UNESCO FRAMEWORKS</a:t>
            </a:r>
          </a:p>
        </p:txBody>
      </p:sp>
      <p:sp>
        <p:nvSpPr>
          <p:cNvPr id="17" name="TextBox 16"/>
          <p:cNvSpPr txBox="1"/>
          <p:nvPr/>
        </p:nvSpPr>
        <p:spPr>
          <a:xfrm>
            <a:off x="6492240" y="2011680"/>
            <a:ext cx="4754880" cy="457200"/>
          </a:xfrm>
          <a:prstGeom prst="rect">
            <a:avLst/>
          </a:prstGeom>
          <a:noFill/>
        </p:spPr>
        <p:txBody>
          <a:bodyPr wrap="square">
            <a:spAutoFit/>
          </a:bodyPr>
          <a:lstStyle/>
          <a:p>
            <a:pPr algn="l">
              <a:defRPr sz="1400" b="0">
                <a:solidFill>
                  <a:srgbClr val="FFFFFF"/>
                </a:solidFill>
                <a:latin typeface="Calibri"/>
              </a:defRPr>
            </a:pPr>
            <a:r>
              <a:t>▸  Digital Competency Framework for Civil Servants</a:t>
            </a:r>
          </a:p>
        </p:txBody>
      </p:sp>
      <p:sp>
        <p:nvSpPr>
          <p:cNvPr id="18" name="TextBox 17"/>
          <p:cNvSpPr txBox="1"/>
          <p:nvPr/>
        </p:nvSpPr>
        <p:spPr>
          <a:xfrm>
            <a:off x="6492240" y="2606040"/>
            <a:ext cx="4754880" cy="457200"/>
          </a:xfrm>
          <a:prstGeom prst="rect">
            <a:avLst/>
          </a:prstGeom>
          <a:noFill/>
        </p:spPr>
        <p:txBody>
          <a:bodyPr wrap="square">
            <a:spAutoFit/>
          </a:bodyPr>
          <a:lstStyle/>
          <a:p>
            <a:pPr algn="l">
              <a:defRPr sz="1400" b="0">
                <a:solidFill>
                  <a:srgbClr val="FFFFFF"/>
                </a:solidFill>
                <a:latin typeface="Calibri"/>
              </a:defRPr>
            </a:pPr>
            <a:r>
              <a:t>▸  AI Competency Framework for Students</a:t>
            </a:r>
          </a:p>
        </p:txBody>
      </p:sp>
      <p:sp>
        <p:nvSpPr>
          <p:cNvPr id="19" name="TextBox 18"/>
          <p:cNvSpPr txBox="1"/>
          <p:nvPr/>
        </p:nvSpPr>
        <p:spPr>
          <a:xfrm>
            <a:off x="6492240" y="3200400"/>
            <a:ext cx="4754880" cy="457200"/>
          </a:xfrm>
          <a:prstGeom prst="rect">
            <a:avLst/>
          </a:prstGeom>
          <a:noFill/>
        </p:spPr>
        <p:txBody>
          <a:bodyPr wrap="square">
            <a:spAutoFit/>
          </a:bodyPr>
          <a:lstStyle/>
          <a:p>
            <a:pPr algn="l">
              <a:defRPr sz="1400" b="0">
                <a:solidFill>
                  <a:srgbClr val="FFFFFF"/>
                </a:solidFill>
                <a:latin typeface="Calibri"/>
              </a:defRPr>
            </a:pPr>
            <a:r>
              <a:t>▸  AI Competency Framework for Teachers</a:t>
            </a:r>
          </a:p>
        </p:txBody>
      </p:sp>
      <p:sp>
        <p:nvSpPr>
          <p:cNvPr id="20" name="TextBox 19"/>
          <p:cNvSpPr txBox="1"/>
          <p:nvPr/>
        </p:nvSpPr>
        <p:spPr>
          <a:xfrm>
            <a:off x="6492240" y="3794760"/>
            <a:ext cx="4754880" cy="457200"/>
          </a:xfrm>
          <a:prstGeom prst="rect">
            <a:avLst/>
          </a:prstGeom>
          <a:noFill/>
        </p:spPr>
        <p:txBody>
          <a:bodyPr wrap="square">
            <a:spAutoFit/>
          </a:bodyPr>
          <a:lstStyle/>
          <a:p>
            <a:pPr algn="l">
              <a:defRPr sz="1400" b="0">
                <a:solidFill>
                  <a:srgbClr val="FFFFFF"/>
                </a:solidFill>
                <a:latin typeface="Calibri"/>
              </a:defRPr>
            </a:pPr>
            <a:r>
              <a:t>▸  Africa Portfolio: AI &amp; Digital Innovation</a:t>
            </a:r>
          </a:p>
        </p:txBody>
      </p:sp>
      <p:sp>
        <p:nvSpPr>
          <p:cNvPr id="21" name="TextBox 20"/>
          <p:cNvSpPr txBox="1"/>
          <p:nvPr/>
        </p:nvSpPr>
        <p:spPr>
          <a:xfrm>
            <a:off x="6492240" y="4389120"/>
            <a:ext cx="4754880" cy="457200"/>
          </a:xfrm>
          <a:prstGeom prst="rect">
            <a:avLst/>
          </a:prstGeom>
          <a:noFill/>
        </p:spPr>
        <p:txBody>
          <a:bodyPr wrap="square">
            <a:spAutoFit/>
          </a:bodyPr>
          <a:lstStyle/>
          <a:p>
            <a:pPr algn="l">
              <a:defRPr sz="1400" b="0">
                <a:solidFill>
                  <a:srgbClr val="FFFFFF"/>
                </a:solidFill>
                <a:latin typeface="Calibri"/>
              </a:defRPr>
            </a:pPr>
            <a:r>
              <a:t>▸  Digital Education &amp; Capacity Development</a:t>
            </a:r>
          </a:p>
        </p:txBody>
      </p:sp>
      <p:sp>
        <p:nvSpPr>
          <p:cNvPr id="22" name="TextBox 21"/>
          <p:cNvSpPr txBox="1"/>
          <p:nvPr/>
        </p:nvSpPr>
        <p:spPr>
          <a:xfrm>
            <a:off x="6492240" y="5029200"/>
            <a:ext cx="4754880" cy="731520"/>
          </a:xfrm>
          <a:prstGeom prst="rect">
            <a:avLst/>
          </a:prstGeom>
          <a:noFill/>
        </p:spPr>
        <p:txBody>
          <a:bodyPr wrap="square">
            <a:spAutoFit/>
          </a:bodyPr>
          <a:lstStyle/>
          <a:p>
            <a:pPr algn="l">
              <a:defRPr sz="1200" b="0">
                <a:solidFill>
                  <a:srgbClr val="BBCCDD"/>
                </a:solidFill>
                <a:latin typeface="Calibri"/>
              </a:defRPr>
            </a:pPr>
            <a:r>
              <a:t>These frameworks provide a basis for dialogue; final eligibility and funding modality would be determined by UNESCO and relevant funding mechanisms.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3200" b="1">
                <a:solidFill>
                  <a:srgbClr val="0D1B2A"/>
                </a:solidFill>
                <a:latin typeface="Calibri"/>
              </a:defRPr>
            </a:pPr>
            <a:r>
              <a:t>PROGRAMME GOAL &amp; OBJECTIVES</a:t>
            </a:r>
          </a:p>
        </p:txBody>
      </p:sp>
      <p:sp>
        <p:nvSpPr>
          <p:cNvPr id="6" name="Rounded Rectangle 5"/>
          <p:cNvSpPr/>
          <p:nvPr/>
        </p:nvSpPr>
        <p:spPr>
          <a:xfrm>
            <a:off x="731520" y="1508759"/>
            <a:ext cx="10698480" cy="100584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63040"/>
            <a:ext cx="10332720" cy="274320"/>
          </a:xfrm>
          <a:prstGeom prst="rect">
            <a:avLst/>
          </a:prstGeom>
          <a:noFill/>
        </p:spPr>
        <p:txBody>
          <a:bodyPr wrap="square">
            <a:spAutoFit/>
          </a:bodyPr>
          <a:lstStyle/>
          <a:p>
            <a:pPr algn="l">
              <a:defRPr sz="1400" b="1">
                <a:solidFill>
                  <a:srgbClr val="C9A227"/>
                </a:solidFill>
                <a:latin typeface="Calibri"/>
              </a:defRPr>
            </a:pPr>
            <a:r>
              <a:t>OVERALL PROGRAMME GOAL</a:t>
            </a:r>
          </a:p>
        </p:txBody>
      </p:sp>
      <p:sp>
        <p:nvSpPr>
          <p:cNvPr id="8" name="TextBox 7"/>
          <p:cNvSpPr txBox="1"/>
          <p:nvPr/>
        </p:nvSpPr>
        <p:spPr>
          <a:xfrm>
            <a:off x="914400" y="1783080"/>
            <a:ext cx="10332720" cy="548640"/>
          </a:xfrm>
          <a:prstGeom prst="rect">
            <a:avLst/>
          </a:prstGeom>
          <a:noFill/>
        </p:spPr>
        <p:txBody>
          <a:bodyPr wrap="square">
            <a:spAutoFit/>
          </a:bodyPr>
          <a:lstStyle/>
          <a:p>
            <a:pPr algn="l">
              <a:defRPr sz="1500" b="0">
                <a:solidFill>
                  <a:srgbClr val="FFFFFF"/>
                </a:solidFill>
                <a:latin typeface="Calibri"/>
              </a:defRPr>
            </a:pPr>
            <a:r>
              <a:rPr dirty="0"/>
              <a:t>To establish a sustainable, locally led digital innovation ecosystem in Edo State that strengthens human capacity, improves public and educational services, promotes responsible AI and protected data use, supports environmental sustainability, preserves cultural knowledge, and enables government and communities to benefit from locally developed digital infrastructure.</a:t>
            </a:r>
          </a:p>
        </p:txBody>
      </p:sp>
      <p:sp>
        <p:nvSpPr>
          <p:cNvPr id="9" name="Rounded Rectangle 8"/>
          <p:cNvSpPr/>
          <p:nvPr/>
        </p:nvSpPr>
        <p:spPr>
          <a:xfrm>
            <a:off x="640080" y="2880359"/>
            <a:ext cx="3291840" cy="11887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880359"/>
            <a:ext cx="73152" cy="1188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971799"/>
            <a:ext cx="3017520" cy="274320"/>
          </a:xfrm>
          <a:prstGeom prst="rect">
            <a:avLst/>
          </a:prstGeom>
          <a:noFill/>
        </p:spPr>
        <p:txBody>
          <a:bodyPr wrap="square">
            <a:spAutoFit/>
          </a:bodyPr>
          <a:lstStyle/>
          <a:p>
            <a:pPr algn="l">
              <a:defRPr sz="1300" b="1">
                <a:solidFill>
                  <a:srgbClr val="1B3A5C"/>
                </a:solidFill>
                <a:latin typeface="Calibri"/>
              </a:defRPr>
            </a:pPr>
            <a:r>
              <a:t>Build Workforce</a:t>
            </a:r>
          </a:p>
        </p:txBody>
      </p:sp>
      <p:sp>
        <p:nvSpPr>
          <p:cNvPr id="12" name="TextBox 11"/>
          <p:cNvSpPr txBox="1"/>
          <p:nvPr/>
        </p:nvSpPr>
        <p:spPr>
          <a:xfrm>
            <a:off x="777240" y="3246119"/>
            <a:ext cx="3017520" cy="731520"/>
          </a:xfrm>
          <a:prstGeom prst="rect">
            <a:avLst/>
          </a:prstGeom>
          <a:noFill/>
        </p:spPr>
        <p:txBody>
          <a:bodyPr wrap="square">
            <a:spAutoFit/>
          </a:bodyPr>
          <a:lstStyle/>
          <a:p>
            <a:pPr algn="l">
              <a:defRPr sz="1200" b="0">
                <a:solidFill>
                  <a:srgbClr val="1A1A1A"/>
                </a:solidFill>
                <a:latin typeface="Calibri"/>
              </a:defRPr>
            </a:pPr>
            <a:r>
              <a:t>Build a skilled local workforce in databases, software development, Python, AI and protected data analytics.</a:t>
            </a:r>
          </a:p>
        </p:txBody>
      </p:sp>
      <p:sp>
        <p:nvSpPr>
          <p:cNvPr id="13" name="Rounded Rectangle 12"/>
          <p:cNvSpPr/>
          <p:nvPr/>
        </p:nvSpPr>
        <p:spPr>
          <a:xfrm>
            <a:off x="4114800" y="2880359"/>
            <a:ext cx="3291840" cy="11887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14800" y="2880359"/>
            <a:ext cx="73152" cy="1188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60" y="2971799"/>
            <a:ext cx="3017520" cy="274320"/>
          </a:xfrm>
          <a:prstGeom prst="rect">
            <a:avLst/>
          </a:prstGeom>
          <a:noFill/>
        </p:spPr>
        <p:txBody>
          <a:bodyPr wrap="square">
            <a:spAutoFit/>
          </a:bodyPr>
          <a:lstStyle/>
          <a:p>
            <a:pPr algn="l">
              <a:defRPr sz="1300" b="1">
                <a:solidFill>
                  <a:srgbClr val="1B3A5C"/>
                </a:solidFill>
                <a:latin typeface="Calibri"/>
              </a:defRPr>
            </a:pPr>
            <a:r>
              <a:t>Deploy Systems</a:t>
            </a:r>
          </a:p>
        </p:txBody>
      </p:sp>
      <p:sp>
        <p:nvSpPr>
          <p:cNvPr id="16" name="TextBox 15"/>
          <p:cNvSpPr txBox="1"/>
          <p:nvPr/>
        </p:nvSpPr>
        <p:spPr>
          <a:xfrm>
            <a:off x="4251960" y="3246119"/>
            <a:ext cx="3017520" cy="731520"/>
          </a:xfrm>
          <a:prstGeom prst="rect">
            <a:avLst/>
          </a:prstGeom>
          <a:noFill/>
        </p:spPr>
        <p:txBody>
          <a:bodyPr wrap="square">
            <a:spAutoFit/>
          </a:bodyPr>
          <a:lstStyle/>
          <a:p>
            <a:pPr algn="l">
              <a:defRPr sz="1200" b="0">
                <a:solidFill>
                  <a:srgbClr val="1A1A1A"/>
                </a:solidFill>
                <a:latin typeface="Calibri"/>
              </a:defRPr>
            </a:pPr>
            <a:r>
              <a:t>Develop and deploy practical digital systems that address education, environment, public safety, government services and cultural heritage.</a:t>
            </a:r>
          </a:p>
        </p:txBody>
      </p:sp>
      <p:sp>
        <p:nvSpPr>
          <p:cNvPr id="17" name="Rounded Rectangle 16"/>
          <p:cNvSpPr/>
          <p:nvPr/>
        </p:nvSpPr>
        <p:spPr>
          <a:xfrm>
            <a:off x="7589520" y="2880359"/>
            <a:ext cx="3291840" cy="11887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2880359"/>
            <a:ext cx="73152" cy="1188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26680" y="2971799"/>
            <a:ext cx="3017520" cy="274320"/>
          </a:xfrm>
          <a:prstGeom prst="rect">
            <a:avLst/>
          </a:prstGeom>
          <a:noFill/>
        </p:spPr>
        <p:txBody>
          <a:bodyPr wrap="square">
            <a:spAutoFit/>
          </a:bodyPr>
          <a:lstStyle/>
          <a:p>
            <a:pPr algn="l">
              <a:defRPr sz="1300" b="1">
                <a:solidFill>
                  <a:srgbClr val="1B3A5C"/>
                </a:solidFill>
                <a:latin typeface="Calibri"/>
              </a:defRPr>
            </a:pPr>
            <a:r>
              <a:t>Responsible AI</a:t>
            </a:r>
          </a:p>
        </p:txBody>
      </p:sp>
      <p:sp>
        <p:nvSpPr>
          <p:cNvPr id="20" name="TextBox 19"/>
          <p:cNvSpPr txBox="1"/>
          <p:nvPr/>
        </p:nvSpPr>
        <p:spPr>
          <a:xfrm>
            <a:off x="7726680" y="3246119"/>
            <a:ext cx="3017520" cy="731520"/>
          </a:xfrm>
          <a:prstGeom prst="rect">
            <a:avLst/>
          </a:prstGeom>
          <a:noFill/>
        </p:spPr>
        <p:txBody>
          <a:bodyPr wrap="square">
            <a:spAutoFit/>
          </a:bodyPr>
          <a:lstStyle/>
          <a:p>
            <a:pPr algn="l">
              <a:defRPr sz="1200" b="0">
                <a:solidFill>
                  <a:srgbClr val="1A1A1A"/>
                </a:solidFill>
                <a:latin typeface="Calibri"/>
              </a:defRPr>
            </a:pPr>
            <a:r>
              <a:t>Promote responsible, privacy-aware and human-centred use of AI and digital technologies.</a:t>
            </a:r>
          </a:p>
        </p:txBody>
      </p:sp>
      <p:sp>
        <p:nvSpPr>
          <p:cNvPr id="21" name="Rounded Rectangle 20"/>
          <p:cNvSpPr/>
          <p:nvPr/>
        </p:nvSpPr>
        <p:spPr>
          <a:xfrm>
            <a:off x="640080" y="4251958"/>
            <a:ext cx="3291840" cy="11887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4251958"/>
            <a:ext cx="73152" cy="1188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343398"/>
            <a:ext cx="3017520" cy="274320"/>
          </a:xfrm>
          <a:prstGeom prst="rect">
            <a:avLst/>
          </a:prstGeom>
          <a:noFill/>
        </p:spPr>
        <p:txBody>
          <a:bodyPr wrap="square">
            <a:spAutoFit/>
          </a:bodyPr>
          <a:lstStyle/>
          <a:p>
            <a:pPr algn="l">
              <a:defRPr sz="1300" b="1">
                <a:solidFill>
                  <a:srgbClr val="1B3A5C"/>
                </a:solidFill>
                <a:latin typeface="Calibri"/>
              </a:defRPr>
            </a:pPr>
            <a:r>
              <a:t>Institutional Capacity</a:t>
            </a:r>
          </a:p>
        </p:txBody>
      </p:sp>
      <p:sp>
        <p:nvSpPr>
          <p:cNvPr id="24" name="TextBox 23"/>
          <p:cNvSpPr txBox="1"/>
          <p:nvPr/>
        </p:nvSpPr>
        <p:spPr>
          <a:xfrm>
            <a:off x="777240" y="4617719"/>
            <a:ext cx="3017520" cy="731520"/>
          </a:xfrm>
          <a:prstGeom prst="rect">
            <a:avLst/>
          </a:prstGeom>
          <a:noFill/>
        </p:spPr>
        <p:txBody>
          <a:bodyPr wrap="square">
            <a:spAutoFit/>
          </a:bodyPr>
          <a:lstStyle/>
          <a:p>
            <a:pPr algn="l">
              <a:defRPr sz="1200" b="0">
                <a:solidFill>
                  <a:srgbClr val="1A1A1A"/>
                </a:solidFill>
                <a:latin typeface="Calibri"/>
              </a:defRPr>
            </a:pPr>
            <a:r>
              <a:t>Strengthen institutional capacity and reduce long-term dependence on external software outsourcing.</a:t>
            </a:r>
          </a:p>
        </p:txBody>
      </p:sp>
      <p:sp>
        <p:nvSpPr>
          <p:cNvPr id="25" name="Rounded Rectangle 24"/>
          <p:cNvSpPr/>
          <p:nvPr/>
        </p:nvSpPr>
        <p:spPr>
          <a:xfrm>
            <a:off x="4114800" y="4251958"/>
            <a:ext cx="3291840" cy="11887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995928" y="4251958"/>
            <a:ext cx="73152" cy="1188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51960" y="4343398"/>
            <a:ext cx="3017520" cy="274320"/>
          </a:xfrm>
          <a:prstGeom prst="rect">
            <a:avLst/>
          </a:prstGeom>
          <a:noFill/>
        </p:spPr>
        <p:txBody>
          <a:bodyPr wrap="square">
            <a:spAutoFit/>
          </a:bodyPr>
          <a:lstStyle/>
          <a:p>
            <a:pPr algn="l">
              <a:defRPr sz="1300" b="1">
                <a:solidFill>
                  <a:srgbClr val="1B3A5C"/>
                </a:solidFill>
                <a:latin typeface="Calibri"/>
              </a:defRPr>
            </a:pPr>
            <a:r>
              <a:rPr dirty="0"/>
              <a:t>Reusable Infrastructure</a:t>
            </a:r>
          </a:p>
        </p:txBody>
      </p:sp>
      <p:sp>
        <p:nvSpPr>
          <p:cNvPr id="28" name="TextBox 27"/>
          <p:cNvSpPr txBox="1"/>
          <p:nvPr/>
        </p:nvSpPr>
        <p:spPr>
          <a:xfrm>
            <a:off x="4251960" y="4617719"/>
            <a:ext cx="3017520" cy="731520"/>
          </a:xfrm>
          <a:prstGeom prst="rect">
            <a:avLst/>
          </a:prstGeom>
          <a:noFill/>
        </p:spPr>
        <p:txBody>
          <a:bodyPr wrap="square">
            <a:spAutoFit/>
          </a:bodyPr>
          <a:lstStyle/>
          <a:p>
            <a:pPr algn="l">
              <a:defRPr sz="1200" b="0">
                <a:solidFill>
                  <a:srgbClr val="1A1A1A"/>
                </a:solidFill>
                <a:latin typeface="Calibri"/>
              </a:defRPr>
            </a:pPr>
            <a:r>
              <a:t>Create reusable digital infrastructure, standards, documentation and knowledge assets that can be maintained locally.</a:t>
            </a:r>
          </a:p>
        </p:txBody>
      </p:sp>
      <p:sp>
        <p:nvSpPr>
          <p:cNvPr id="29" name="Rounded Rectangle 28"/>
          <p:cNvSpPr/>
          <p:nvPr/>
        </p:nvSpPr>
        <p:spPr>
          <a:xfrm>
            <a:off x="7589520" y="4251958"/>
            <a:ext cx="3291840" cy="11887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589520" y="4251958"/>
            <a:ext cx="73152" cy="1188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26680" y="4343398"/>
            <a:ext cx="3017520" cy="274320"/>
          </a:xfrm>
          <a:prstGeom prst="rect">
            <a:avLst/>
          </a:prstGeom>
          <a:noFill/>
        </p:spPr>
        <p:txBody>
          <a:bodyPr wrap="square">
            <a:spAutoFit/>
          </a:bodyPr>
          <a:lstStyle/>
          <a:p>
            <a:pPr algn="l">
              <a:defRPr sz="1300" b="1">
                <a:solidFill>
                  <a:srgbClr val="1B3A5C"/>
                </a:solidFill>
                <a:latin typeface="Calibri"/>
              </a:defRPr>
            </a:pPr>
            <a:r>
              <a:t>Inclusive Participation</a:t>
            </a:r>
          </a:p>
        </p:txBody>
      </p:sp>
      <p:sp>
        <p:nvSpPr>
          <p:cNvPr id="32" name="TextBox 31"/>
          <p:cNvSpPr txBox="1"/>
          <p:nvPr/>
        </p:nvSpPr>
        <p:spPr>
          <a:xfrm>
            <a:off x="7726680" y="4617719"/>
            <a:ext cx="3017520" cy="731520"/>
          </a:xfrm>
          <a:prstGeom prst="rect">
            <a:avLst/>
          </a:prstGeom>
          <a:noFill/>
        </p:spPr>
        <p:txBody>
          <a:bodyPr wrap="square">
            <a:spAutoFit/>
          </a:bodyPr>
          <a:lstStyle/>
          <a:p>
            <a:pPr algn="l">
              <a:defRPr sz="1200" b="0">
                <a:solidFill>
                  <a:srgbClr val="1A1A1A"/>
                </a:solidFill>
                <a:latin typeface="Calibri"/>
              </a:defRPr>
            </a:pPr>
            <a:r>
              <a:t>Provide opportunities for youth, women, educators, civil servants, technical professionals and communities to participate in digital innovation.</a:t>
            </a:r>
          </a:p>
        </p:txBody>
      </p:sp>
      <p:sp>
        <p:nvSpPr>
          <p:cNvPr id="33" name="Rounded Rectangle 32"/>
          <p:cNvSpPr/>
          <p:nvPr/>
        </p:nvSpPr>
        <p:spPr>
          <a:xfrm>
            <a:off x="640080" y="5623559"/>
            <a:ext cx="10698480" cy="11887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0080" y="5623559"/>
            <a:ext cx="73152" cy="1188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5714998"/>
            <a:ext cx="10424159" cy="274320"/>
          </a:xfrm>
          <a:prstGeom prst="rect">
            <a:avLst/>
          </a:prstGeom>
          <a:noFill/>
        </p:spPr>
        <p:txBody>
          <a:bodyPr wrap="square">
            <a:spAutoFit/>
          </a:bodyPr>
          <a:lstStyle/>
          <a:p>
            <a:pPr algn="l">
              <a:defRPr sz="1300" b="1">
                <a:solidFill>
                  <a:srgbClr val="1B3A5C"/>
                </a:solidFill>
                <a:latin typeface="Calibri"/>
              </a:defRPr>
            </a:pPr>
            <a:r>
              <a:t>M&amp;E &amp; Governance</a:t>
            </a:r>
          </a:p>
        </p:txBody>
      </p:sp>
      <p:sp>
        <p:nvSpPr>
          <p:cNvPr id="36" name="TextBox 35"/>
          <p:cNvSpPr txBox="1"/>
          <p:nvPr/>
        </p:nvSpPr>
        <p:spPr>
          <a:xfrm>
            <a:off x="777240" y="5989319"/>
            <a:ext cx="10424159" cy="731520"/>
          </a:xfrm>
          <a:prstGeom prst="rect">
            <a:avLst/>
          </a:prstGeom>
          <a:noFill/>
        </p:spPr>
        <p:txBody>
          <a:bodyPr wrap="square">
            <a:spAutoFit/>
          </a:bodyPr>
          <a:lstStyle/>
          <a:p>
            <a:pPr algn="l">
              <a:defRPr sz="1200" b="0">
                <a:solidFill>
                  <a:srgbClr val="1A1A1A"/>
                </a:solidFill>
                <a:latin typeface="Calibri"/>
              </a:defRPr>
            </a:pPr>
            <a:r>
              <a:t>Establish measurable monitoring, evaluation, cybersecurity, data-governance and sustainability mechanisms across the portfolio.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3200" b="1">
                <a:solidFill>
                  <a:srgbClr val="0D1B2A"/>
                </a:solidFill>
                <a:latin typeface="Calibri"/>
              </a:defRPr>
            </a:pPr>
            <a:r>
              <a:t>PROJECT PORTFOLIO OVERVIEW</a:t>
            </a:r>
          </a:p>
        </p:txBody>
      </p:sp>
      <p:sp>
        <p:nvSpPr>
          <p:cNvPr id="6" name="Rectangle 5"/>
          <p:cNvSpPr/>
          <p:nvPr/>
        </p:nvSpPr>
        <p:spPr>
          <a:xfrm>
            <a:off x="731520" y="1371600"/>
            <a:ext cx="10698480"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20"/>
            <a:ext cx="548640" cy="320040"/>
          </a:xfrm>
          <a:prstGeom prst="rect">
            <a:avLst/>
          </a:prstGeom>
          <a:noFill/>
        </p:spPr>
        <p:txBody>
          <a:bodyPr wrap="square">
            <a:spAutoFit/>
          </a:bodyPr>
          <a:lstStyle/>
          <a:p>
            <a:pPr algn="ctr">
              <a:defRPr sz="1300" b="1">
                <a:solidFill>
                  <a:srgbClr val="FFFFFF"/>
                </a:solidFill>
                <a:latin typeface="Calibri"/>
              </a:defRPr>
            </a:pPr>
            <a:r>
              <a:t>#</a:t>
            </a:r>
          </a:p>
        </p:txBody>
      </p:sp>
      <p:sp>
        <p:nvSpPr>
          <p:cNvPr id="8" name="TextBox 7"/>
          <p:cNvSpPr txBox="1"/>
          <p:nvPr/>
        </p:nvSpPr>
        <p:spPr>
          <a:xfrm>
            <a:off x="1463040" y="1417320"/>
            <a:ext cx="5029200" cy="320040"/>
          </a:xfrm>
          <a:prstGeom prst="rect">
            <a:avLst/>
          </a:prstGeom>
          <a:noFill/>
        </p:spPr>
        <p:txBody>
          <a:bodyPr wrap="square">
            <a:spAutoFit/>
          </a:bodyPr>
          <a:lstStyle/>
          <a:p>
            <a:pPr algn="l">
              <a:defRPr sz="1300" b="1">
                <a:solidFill>
                  <a:srgbClr val="FFFFFF"/>
                </a:solidFill>
                <a:latin typeface="Calibri"/>
              </a:defRPr>
            </a:pPr>
            <a:r>
              <a:t>PROJECT</a:t>
            </a:r>
          </a:p>
        </p:txBody>
      </p:sp>
      <p:sp>
        <p:nvSpPr>
          <p:cNvPr id="9" name="TextBox 8"/>
          <p:cNvSpPr txBox="1"/>
          <p:nvPr/>
        </p:nvSpPr>
        <p:spPr>
          <a:xfrm>
            <a:off x="6675120" y="1417320"/>
            <a:ext cx="1645920" cy="320040"/>
          </a:xfrm>
          <a:prstGeom prst="rect">
            <a:avLst/>
          </a:prstGeom>
          <a:noFill/>
        </p:spPr>
        <p:txBody>
          <a:bodyPr wrap="square">
            <a:spAutoFit/>
          </a:bodyPr>
          <a:lstStyle/>
          <a:p>
            <a:pPr algn="r">
              <a:defRPr sz="1300" b="1">
                <a:solidFill>
                  <a:srgbClr val="FFFFFF"/>
                </a:solidFill>
                <a:latin typeface="Calibri"/>
              </a:defRPr>
            </a:pPr>
            <a:r>
              <a:t>BUDGET</a:t>
            </a:r>
          </a:p>
        </p:txBody>
      </p:sp>
      <p:sp>
        <p:nvSpPr>
          <p:cNvPr id="10" name="TextBox 9"/>
          <p:cNvSpPr txBox="1"/>
          <p:nvPr/>
        </p:nvSpPr>
        <p:spPr>
          <a:xfrm>
            <a:off x="8412480" y="1417320"/>
            <a:ext cx="1097280" cy="320040"/>
          </a:xfrm>
          <a:prstGeom prst="rect">
            <a:avLst/>
          </a:prstGeom>
          <a:noFill/>
        </p:spPr>
        <p:txBody>
          <a:bodyPr wrap="square">
            <a:spAutoFit/>
          </a:bodyPr>
          <a:lstStyle/>
          <a:p>
            <a:pPr algn="r">
              <a:defRPr sz="1300" b="1">
                <a:solidFill>
                  <a:srgbClr val="FFFFFF"/>
                </a:solidFill>
                <a:latin typeface="Calibri"/>
              </a:defRPr>
            </a:pPr>
            <a:r>
              <a:rPr dirty="0"/>
              <a:t>SHARE</a:t>
            </a:r>
          </a:p>
        </p:txBody>
      </p:sp>
      <p:sp>
        <p:nvSpPr>
          <p:cNvPr id="11" name="TextBox 10"/>
          <p:cNvSpPr txBox="1"/>
          <p:nvPr/>
        </p:nvSpPr>
        <p:spPr>
          <a:xfrm>
            <a:off x="9601200" y="1417320"/>
            <a:ext cx="1645920" cy="320040"/>
          </a:xfrm>
          <a:prstGeom prst="rect">
            <a:avLst/>
          </a:prstGeom>
          <a:noFill/>
        </p:spPr>
        <p:txBody>
          <a:bodyPr wrap="square">
            <a:spAutoFit/>
          </a:bodyPr>
          <a:lstStyle/>
          <a:p>
            <a:pPr algn="r">
              <a:defRPr sz="1300" b="1">
                <a:solidFill>
                  <a:srgbClr val="FFFFFF"/>
                </a:solidFill>
                <a:latin typeface="Calibri"/>
              </a:defRPr>
            </a:pPr>
            <a:r>
              <a:t>TIMELINE</a:t>
            </a:r>
          </a:p>
        </p:txBody>
      </p:sp>
      <p:sp>
        <p:nvSpPr>
          <p:cNvPr id="12" name="Rectangle 11"/>
          <p:cNvSpPr/>
          <p:nvPr/>
        </p:nvSpPr>
        <p:spPr>
          <a:xfrm>
            <a:off x="731520" y="1783080"/>
            <a:ext cx="10698480" cy="411480"/>
          </a:xfrm>
          <a:prstGeom prst="rect">
            <a:avLst/>
          </a:prstGeom>
          <a:solidFill>
            <a:srgbClr val="FFFFFF"/>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1828800"/>
            <a:ext cx="548640" cy="320040"/>
          </a:xfrm>
          <a:prstGeom prst="rect">
            <a:avLst/>
          </a:prstGeom>
          <a:noFill/>
        </p:spPr>
        <p:txBody>
          <a:bodyPr wrap="square">
            <a:spAutoFit/>
          </a:bodyPr>
          <a:lstStyle/>
          <a:p>
            <a:pPr algn="ctr">
              <a:defRPr sz="1200" b="1">
                <a:solidFill>
                  <a:srgbClr val="C9A227"/>
                </a:solidFill>
                <a:latin typeface="Calibri"/>
              </a:defRPr>
            </a:pPr>
            <a:r>
              <a:t>01</a:t>
            </a:r>
          </a:p>
        </p:txBody>
      </p:sp>
      <p:sp>
        <p:nvSpPr>
          <p:cNvPr id="14" name="TextBox 13"/>
          <p:cNvSpPr txBox="1"/>
          <p:nvPr/>
        </p:nvSpPr>
        <p:spPr>
          <a:xfrm>
            <a:off x="1463040" y="1828800"/>
            <a:ext cx="5029200" cy="320040"/>
          </a:xfrm>
          <a:prstGeom prst="rect">
            <a:avLst/>
          </a:prstGeom>
          <a:noFill/>
        </p:spPr>
        <p:txBody>
          <a:bodyPr wrap="square">
            <a:spAutoFit/>
          </a:bodyPr>
          <a:lstStyle/>
          <a:p>
            <a:pPr algn="l">
              <a:defRPr sz="1200" b="0">
                <a:solidFill>
                  <a:srgbClr val="1A1A1A"/>
                </a:solidFill>
                <a:latin typeface="Calibri"/>
              </a:defRPr>
            </a:pPr>
            <a:r>
              <a:t>Relational Database &amp; App Development Training</a:t>
            </a:r>
          </a:p>
        </p:txBody>
      </p:sp>
      <p:sp>
        <p:nvSpPr>
          <p:cNvPr id="15" name="TextBox 14"/>
          <p:cNvSpPr txBox="1"/>
          <p:nvPr/>
        </p:nvSpPr>
        <p:spPr>
          <a:xfrm>
            <a:off x="6675120" y="1828800"/>
            <a:ext cx="1645920" cy="320040"/>
          </a:xfrm>
          <a:prstGeom prst="rect">
            <a:avLst/>
          </a:prstGeom>
          <a:noFill/>
        </p:spPr>
        <p:txBody>
          <a:bodyPr wrap="square">
            <a:spAutoFit/>
          </a:bodyPr>
          <a:lstStyle/>
          <a:p>
            <a:pPr algn="r">
              <a:defRPr sz="1200" b="1">
                <a:solidFill>
                  <a:srgbClr val="1A1A1A"/>
                </a:solidFill>
                <a:latin typeface="Calibri"/>
              </a:defRPr>
            </a:pPr>
            <a:r>
              <a:t>$300,000</a:t>
            </a:r>
          </a:p>
        </p:txBody>
      </p:sp>
      <p:sp>
        <p:nvSpPr>
          <p:cNvPr id="16" name="TextBox 15"/>
          <p:cNvSpPr txBox="1"/>
          <p:nvPr/>
        </p:nvSpPr>
        <p:spPr>
          <a:xfrm>
            <a:off x="8412480" y="1828800"/>
            <a:ext cx="1097280" cy="320040"/>
          </a:xfrm>
          <a:prstGeom prst="rect">
            <a:avLst/>
          </a:prstGeom>
          <a:noFill/>
        </p:spPr>
        <p:txBody>
          <a:bodyPr wrap="square">
            <a:spAutoFit/>
          </a:bodyPr>
          <a:lstStyle/>
          <a:p>
            <a:pPr algn="r">
              <a:defRPr sz="1200" b="0">
                <a:solidFill>
                  <a:srgbClr val="555555"/>
                </a:solidFill>
                <a:latin typeface="Calibri"/>
              </a:defRPr>
            </a:pPr>
            <a:r>
              <a:t>7.6%</a:t>
            </a:r>
          </a:p>
        </p:txBody>
      </p:sp>
      <p:sp>
        <p:nvSpPr>
          <p:cNvPr id="17" name="TextBox 16"/>
          <p:cNvSpPr txBox="1"/>
          <p:nvPr/>
        </p:nvSpPr>
        <p:spPr>
          <a:xfrm>
            <a:off x="9601200" y="1828800"/>
            <a:ext cx="1645920" cy="276999"/>
          </a:xfrm>
          <a:prstGeom prst="rect">
            <a:avLst/>
          </a:prstGeom>
          <a:noFill/>
        </p:spPr>
        <p:txBody>
          <a:bodyPr wrap="square">
            <a:spAutoFit/>
          </a:bodyPr>
          <a:lstStyle/>
          <a:p>
            <a:pPr algn="r">
              <a:defRPr sz="1200" b="0">
                <a:solidFill>
                  <a:srgbClr val="555555"/>
                </a:solidFill>
                <a:latin typeface="Calibri"/>
              </a:defRPr>
            </a:pPr>
            <a:r>
              <a:rPr lang="en-US" dirty="0"/>
              <a:t>2 Weeks</a:t>
            </a:r>
            <a:r>
              <a:rPr dirty="0"/>
              <a:t> </a:t>
            </a:r>
          </a:p>
        </p:txBody>
      </p:sp>
      <p:sp>
        <p:nvSpPr>
          <p:cNvPr id="18" name="Rectangle 17"/>
          <p:cNvSpPr/>
          <p:nvPr/>
        </p:nvSpPr>
        <p:spPr>
          <a:xfrm>
            <a:off x="731520" y="2221991"/>
            <a:ext cx="10698480" cy="411480"/>
          </a:xfrm>
          <a:prstGeom prst="rect">
            <a:avLst/>
          </a:prstGeom>
          <a:solidFill>
            <a:srgbClr val="F5F7FA"/>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2267711"/>
            <a:ext cx="548640" cy="320040"/>
          </a:xfrm>
          <a:prstGeom prst="rect">
            <a:avLst/>
          </a:prstGeom>
          <a:noFill/>
        </p:spPr>
        <p:txBody>
          <a:bodyPr wrap="square">
            <a:spAutoFit/>
          </a:bodyPr>
          <a:lstStyle/>
          <a:p>
            <a:pPr algn="ctr">
              <a:defRPr sz="1200" b="1">
                <a:solidFill>
                  <a:srgbClr val="C9A227"/>
                </a:solidFill>
                <a:latin typeface="Calibri"/>
              </a:defRPr>
            </a:pPr>
            <a:r>
              <a:t>02</a:t>
            </a:r>
          </a:p>
        </p:txBody>
      </p:sp>
      <p:sp>
        <p:nvSpPr>
          <p:cNvPr id="20" name="TextBox 19"/>
          <p:cNvSpPr txBox="1"/>
          <p:nvPr/>
        </p:nvSpPr>
        <p:spPr>
          <a:xfrm>
            <a:off x="1463040" y="2267711"/>
            <a:ext cx="5029200" cy="320040"/>
          </a:xfrm>
          <a:prstGeom prst="rect">
            <a:avLst/>
          </a:prstGeom>
          <a:noFill/>
        </p:spPr>
        <p:txBody>
          <a:bodyPr wrap="square">
            <a:spAutoFit/>
          </a:bodyPr>
          <a:lstStyle/>
          <a:p>
            <a:pPr algn="l">
              <a:defRPr sz="1200" b="0">
                <a:solidFill>
                  <a:srgbClr val="1A1A1A"/>
                </a:solidFill>
                <a:latin typeface="Calibri"/>
              </a:defRPr>
            </a:pPr>
            <a:r>
              <a:t>Protected Data Analysis with AI &amp; Python</a:t>
            </a:r>
          </a:p>
        </p:txBody>
      </p:sp>
      <p:sp>
        <p:nvSpPr>
          <p:cNvPr id="21" name="TextBox 20"/>
          <p:cNvSpPr txBox="1"/>
          <p:nvPr/>
        </p:nvSpPr>
        <p:spPr>
          <a:xfrm>
            <a:off x="6675120" y="2267711"/>
            <a:ext cx="1645920" cy="320040"/>
          </a:xfrm>
          <a:prstGeom prst="rect">
            <a:avLst/>
          </a:prstGeom>
          <a:noFill/>
        </p:spPr>
        <p:txBody>
          <a:bodyPr wrap="square">
            <a:spAutoFit/>
          </a:bodyPr>
          <a:lstStyle/>
          <a:p>
            <a:pPr algn="r">
              <a:defRPr sz="1200" b="1">
                <a:solidFill>
                  <a:srgbClr val="1A1A1A"/>
                </a:solidFill>
                <a:latin typeface="Calibri"/>
              </a:defRPr>
            </a:pPr>
            <a:r>
              <a:t>$400,000</a:t>
            </a:r>
          </a:p>
        </p:txBody>
      </p:sp>
      <p:sp>
        <p:nvSpPr>
          <p:cNvPr id="22" name="TextBox 21"/>
          <p:cNvSpPr txBox="1"/>
          <p:nvPr/>
        </p:nvSpPr>
        <p:spPr>
          <a:xfrm>
            <a:off x="8412480" y="2267711"/>
            <a:ext cx="1097280" cy="320040"/>
          </a:xfrm>
          <a:prstGeom prst="rect">
            <a:avLst/>
          </a:prstGeom>
          <a:noFill/>
        </p:spPr>
        <p:txBody>
          <a:bodyPr wrap="square">
            <a:spAutoFit/>
          </a:bodyPr>
          <a:lstStyle/>
          <a:p>
            <a:pPr algn="r">
              <a:defRPr sz="1200" b="0">
                <a:solidFill>
                  <a:srgbClr val="555555"/>
                </a:solidFill>
                <a:latin typeface="Calibri"/>
              </a:defRPr>
            </a:pPr>
            <a:r>
              <a:t>10.1%</a:t>
            </a:r>
          </a:p>
        </p:txBody>
      </p:sp>
      <p:sp>
        <p:nvSpPr>
          <p:cNvPr id="23" name="TextBox 22"/>
          <p:cNvSpPr txBox="1"/>
          <p:nvPr/>
        </p:nvSpPr>
        <p:spPr>
          <a:xfrm>
            <a:off x="9601200" y="2267711"/>
            <a:ext cx="1645920" cy="276999"/>
          </a:xfrm>
          <a:prstGeom prst="rect">
            <a:avLst/>
          </a:prstGeom>
          <a:noFill/>
        </p:spPr>
        <p:txBody>
          <a:bodyPr wrap="square">
            <a:spAutoFit/>
          </a:bodyPr>
          <a:lstStyle/>
          <a:p>
            <a:pPr algn="r">
              <a:defRPr sz="1200" b="0">
                <a:solidFill>
                  <a:srgbClr val="555555"/>
                </a:solidFill>
                <a:latin typeface="Calibri"/>
              </a:defRPr>
            </a:pPr>
            <a:r>
              <a:rPr lang="en-US" dirty="0"/>
              <a:t>1 Weeks </a:t>
            </a:r>
          </a:p>
        </p:txBody>
      </p:sp>
      <p:sp>
        <p:nvSpPr>
          <p:cNvPr id="24" name="Rectangle 23"/>
          <p:cNvSpPr/>
          <p:nvPr/>
        </p:nvSpPr>
        <p:spPr>
          <a:xfrm>
            <a:off x="731520" y="2660904"/>
            <a:ext cx="10698480" cy="411480"/>
          </a:xfrm>
          <a:prstGeom prst="rect">
            <a:avLst/>
          </a:prstGeom>
          <a:solidFill>
            <a:srgbClr val="FFFFFF"/>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2706624"/>
            <a:ext cx="548640" cy="320040"/>
          </a:xfrm>
          <a:prstGeom prst="rect">
            <a:avLst/>
          </a:prstGeom>
          <a:noFill/>
        </p:spPr>
        <p:txBody>
          <a:bodyPr wrap="square">
            <a:spAutoFit/>
          </a:bodyPr>
          <a:lstStyle/>
          <a:p>
            <a:pPr algn="ctr">
              <a:defRPr sz="1200" b="1">
                <a:solidFill>
                  <a:srgbClr val="C9A227"/>
                </a:solidFill>
                <a:latin typeface="Calibri"/>
              </a:defRPr>
            </a:pPr>
            <a:r>
              <a:t>03</a:t>
            </a:r>
          </a:p>
        </p:txBody>
      </p:sp>
      <p:sp>
        <p:nvSpPr>
          <p:cNvPr id="26" name="TextBox 25"/>
          <p:cNvSpPr txBox="1"/>
          <p:nvPr/>
        </p:nvSpPr>
        <p:spPr>
          <a:xfrm>
            <a:off x="1463040" y="2706624"/>
            <a:ext cx="5029200" cy="320040"/>
          </a:xfrm>
          <a:prstGeom prst="rect">
            <a:avLst/>
          </a:prstGeom>
          <a:noFill/>
        </p:spPr>
        <p:txBody>
          <a:bodyPr wrap="square">
            <a:spAutoFit/>
          </a:bodyPr>
          <a:lstStyle/>
          <a:p>
            <a:pPr algn="l">
              <a:defRPr sz="1200" b="0">
                <a:solidFill>
                  <a:srgbClr val="1A1A1A"/>
                </a:solidFill>
                <a:latin typeface="Calibri"/>
              </a:defRPr>
            </a:pPr>
            <a:r>
              <a:t>Waste Disposal &amp; Recycling Management System</a:t>
            </a:r>
          </a:p>
        </p:txBody>
      </p:sp>
      <p:sp>
        <p:nvSpPr>
          <p:cNvPr id="27" name="TextBox 26"/>
          <p:cNvSpPr txBox="1"/>
          <p:nvPr/>
        </p:nvSpPr>
        <p:spPr>
          <a:xfrm>
            <a:off x="6675120" y="2706624"/>
            <a:ext cx="1645920" cy="320040"/>
          </a:xfrm>
          <a:prstGeom prst="rect">
            <a:avLst/>
          </a:prstGeom>
          <a:noFill/>
        </p:spPr>
        <p:txBody>
          <a:bodyPr wrap="square">
            <a:spAutoFit/>
          </a:bodyPr>
          <a:lstStyle/>
          <a:p>
            <a:pPr algn="r">
              <a:defRPr sz="1200" b="1">
                <a:solidFill>
                  <a:srgbClr val="1A1A1A"/>
                </a:solidFill>
                <a:latin typeface="Calibri"/>
              </a:defRPr>
            </a:pPr>
            <a:r>
              <a:t>$350,000</a:t>
            </a:r>
          </a:p>
        </p:txBody>
      </p:sp>
      <p:sp>
        <p:nvSpPr>
          <p:cNvPr id="28" name="TextBox 27"/>
          <p:cNvSpPr txBox="1"/>
          <p:nvPr/>
        </p:nvSpPr>
        <p:spPr>
          <a:xfrm>
            <a:off x="8412480" y="2706624"/>
            <a:ext cx="1097280" cy="320040"/>
          </a:xfrm>
          <a:prstGeom prst="rect">
            <a:avLst/>
          </a:prstGeom>
          <a:noFill/>
        </p:spPr>
        <p:txBody>
          <a:bodyPr wrap="square">
            <a:spAutoFit/>
          </a:bodyPr>
          <a:lstStyle/>
          <a:p>
            <a:pPr algn="r">
              <a:defRPr sz="1200" b="0">
                <a:solidFill>
                  <a:srgbClr val="555555"/>
                </a:solidFill>
                <a:latin typeface="Calibri"/>
              </a:defRPr>
            </a:pPr>
            <a:r>
              <a:t>8.9%</a:t>
            </a:r>
          </a:p>
        </p:txBody>
      </p:sp>
      <p:sp>
        <p:nvSpPr>
          <p:cNvPr id="29" name="TextBox 28"/>
          <p:cNvSpPr txBox="1"/>
          <p:nvPr/>
        </p:nvSpPr>
        <p:spPr>
          <a:xfrm>
            <a:off x="9601200" y="2706624"/>
            <a:ext cx="1645920" cy="276999"/>
          </a:xfrm>
          <a:prstGeom prst="rect">
            <a:avLst/>
          </a:prstGeom>
          <a:noFill/>
        </p:spPr>
        <p:txBody>
          <a:bodyPr wrap="square">
            <a:spAutoFit/>
          </a:bodyPr>
          <a:lstStyle/>
          <a:p>
            <a:pPr algn="r">
              <a:defRPr sz="1200" b="0">
                <a:solidFill>
                  <a:srgbClr val="555555"/>
                </a:solidFill>
                <a:latin typeface="Calibri"/>
              </a:defRPr>
            </a:pPr>
            <a:r>
              <a:rPr lang="en-US" dirty="0"/>
              <a:t>8 Weeks </a:t>
            </a:r>
          </a:p>
        </p:txBody>
      </p:sp>
      <p:sp>
        <p:nvSpPr>
          <p:cNvPr id="30" name="Rectangle 29"/>
          <p:cNvSpPr/>
          <p:nvPr/>
        </p:nvSpPr>
        <p:spPr>
          <a:xfrm>
            <a:off x="731520" y="3099815"/>
            <a:ext cx="10698480" cy="411480"/>
          </a:xfrm>
          <a:prstGeom prst="rect">
            <a:avLst/>
          </a:prstGeom>
          <a:solidFill>
            <a:srgbClr val="F5F7FA"/>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3145535"/>
            <a:ext cx="548640" cy="320040"/>
          </a:xfrm>
          <a:prstGeom prst="rect">
            <a:avLst/>
          </a:prstGeom>
          <a:noFill/>
        </p:spPr>
        <p:txBody>
          <a:bodyPr wrap="square">
            <a:spAutoFit/>
          </a:bodyPr>
          <a:lstStyle/>
          <a:p>
            <a:pPr algn="ctr">
              <a:defRPr sz="1200" b="1">
                <a:solidFill>
                  <a:srgbClr val="C9A227"/>
                </a:solidFill>
                <a:latin typeface="Calibri"/>
              </a:defRPr>
            </a:pPr>
            <a:r>
              <a:t>04</a:t>
            </a:r>
          </a:p>
        </p:txBody>
      </p:sp>
      <p:sp>
        <p:nvSpPr>
          <p:cNvPr id="32" name="TextBox 31"/>
          <p:cNvSpPr txBox="1"/>
          <p:nvPr/>
        </p:nvSpPr>
        <p:spPr>
          <a:xfrm>
            <a:off x="1463040" y="3145535"/>
            <a:ext cx="5029200" cy="320040"/>
          </a:xfrm>
          <a:prstGeom prst="rect">
            <a:avLst/>
          </a:prstGeom>
          <a:noFill/>
        </p:spPr>
        <p:txBody>
          <a:bodyPr wrap="square">
            <a:spAutoFit/>
          </a:bodyPr>
          <a:lstStyle/>
          <a:p>
            <a:pPr algn="l">
              <a:defRPr sz="1200" b="0">
                <a:solidFill>
                  <a:srgbClr val="1A1A1A"/>
                </a:solidFill>
                <a:latin typeface="Calibri"/>
              </a:defRPr>
            </a:pPr>
            <a:r>
              <a:t>Examination &amp; Academic Performance System</a:t>
            </a:r>
          </a:p>
        </p:txBody>
      </p:sp>
      <p:sp>
        <p:nvSpPr>
          <p:cNvPr id="33" name="TextBox 32"/>
          <p:cNvSpPr txBox="1"/>
          <p:nvPr/>
        </p:nvSpPr>
        <p:spPr>
          <a:xfrm>
            <a:off x="6675120" y="3145535"/>
            <a:ext cx="1645920" cy="320040"/>
          </a:xfrm>
          <a:prstGeom prst="rect">
            <a:avLst/>
          </a:prstGeom>
          <a:noFill/>
        </p:spPr>
        <p:txBody>
          <a:bodyPr wrap="square">
            <a:spAutoFit/>
          </a:bodyPr>
          <a:lstStyle/>
          <a:p>
            <a:pPr algn="r">
              <a:defRPr sz="1200" b="1">
                <a:solidFill>
                  <a:srgbClr val="1A1A1A"/>
                </a:solidFill>
                <a:latin typeface="Calibri"/>
              </a:defRPr>
            </a:pPr>
            <a:r>
              <a:t>$500,000</a:t>
            </a:r>
          </a:p>
        </p:txBody>
      </p:sp>
      <p:sp>
        <p:nvSpPr>
          <p:cNvPr id="34" name="TextBox 33"/>
          <p:cNvSpPr txBox="1"/>
          <p:nvPr/>
        </p:nvSpPr>
        <p:spPr>
          <a:xfrm>
            <a:off x="8412480" y="3145535"/>
            <a:ext cx="1097280" cy="320040"/>
          </a:xfrm>
          <a:prstGeom prst="rect">
            <a:avLst/>
          </a:prstGeom>
          <a:noFill/>
        </p:spPr>
        <p:txBody>
          <a:bodyPr wrap="square">
            <a:spAutoFit/>
          </a:bodyPr>
          <a:lstStyle/>
          <a:p>
            <a:pPr algn="r">
              <a:defRPr sz="1200" b="0">
                <a:solidFill>
                  <a:srgbClr val="555555"/>
                </a:solidFill>
                <a:latin typeface="Calibri"/>
              </a:defRPr>
            </a:pPr>
            <a:r>
              <a:t>12.7%</a:t>
            </a:r>
          </a:p>
        </p:txBody>
      </p:sp>
      <p:sp>
        <p:nvSpPr>
          <p:cNvPr id="35" name="TextBox 34"/>
          <p:cNvSpPr txBox="1"/>
          <p:nvPr/>
        </p:nvSpPr>
        <p:spPr>
          <a:xfrm>
            <a:off x="9601200" y="3145535"/>
            <a:ext cx="1645920" cy="276999"/>
          </a:xfrm>
          <a:prstGeom prst="rect">
            <a:avLst/>
          </a:prstGeom>
          <a:noFill/>
        </p:spPr>
        <p:txBody>
          <a:bodyPr wrap="square">
            <a:spAutoFit/>
          </a:bodyPr>
          <a:lstStyle/>
          <a:p>
            <a:pPr algn="r">
              <a:defRPr sz="1200" b="0">
                <a:solidFill>
                  <a:srgbClr val="555555"/>
                </a:solidFill>
                <a:latin typeface="Calibri"/>
              </a:defRPr>
            </a:pPr>
            <a:r>
              <a:rPr lang="en-US" dirty="0"/>
              <a:t>8 Weeks </a:t>
            </a:r>
          </a:p>
        </p:txBody>
      </p:sp>
      <p:sp>
        <p:nvSpPr>
          <p:cNvPr id="36" name="Rectangle 35"/>
          <p:cNvSpPr/>
          <p:nvPr/>
        </p:nvSpPr>
        <p:spPr>
          <a:xfrm>
            <a:off x="731520" y="3538728"/>
            <a:ext cx="10698480" cy="411480"/>
          </a:xfrm>
          <a:prstGeom prst="rect">
            <a:avLst/>
          </a:prstGeom>
          <a:solidFill>
            <a:srgbClr val="FFFFFF"/>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 y="3584448"/>
            <a:ext cx="548640" cy="320040"/>
          </a:xfrm>
          <a:prstGeom prst="rect">
            <a:avLst/>
          </a:prstGeom>
          <a:noFill/>
        </p:spPr>
        <p:txBody>
          <a:bodyPr wrap="square">
            <a:spAutoFit/>
          </a:bodyPr>
          <a:lstStyle/>
          <a:p>
            <a:pPr algn="ctr">
              <a:defRPr sz="1200" b="1">
                <a:solidFill>
                  <a:srgbClr val="C9A227"/>
                </a:solidFill>
                <a:latin typeface="Calibri"/>
              </a:defRPr>
            </a:pPr>
            <a:r>
              <a:t>05</a:t>
            </a:r>
          </a:p>
        </p:txBody>
      </p:sp>
      <p:sp>
        <p:nvSpPr>
          <p:cNvPr id="38" name="TextBox 37"/>
          <p:cNvSpPr txBox="1"/>
          <p:nvPr/>
        </p:nvSpPr>
        <p:spPr>
          <a:xfrm>
            <a:off x="1463040" y="3584448"/>
            <a:ext cx="5029200" cy="320040"/>
          </a:xfrm>
          <a:prstGeom prst="rect">
            <a:avLst/>
          </a:prstGeom>
          <a:noFill/>
        </p:spPr>
        <p:txBody>
          <a:bodyPr wrap="square">
            <a:spAutoFit/>
          </a:bodyPr>
          <a:lstStyle/>
          <a:p>
            <a:pPr algn="l">
              <a:defRPr sz="1200" b="0">
                <a:solidFill>
                  <a:srgbClr val="1A1A1A"/>
                </a:solidFill>
                <a:latin typeface="Calibri"/>
              </a:defRPr>
            </a:pPr>
            <a:r>
              <a:t>Digital Technology Exhibition</a:t>
            </a:r>
          </a:p>
        </p:txBody>
      </p:sp>
      <p:sp>
        <p:nvSpPr>
          <p:cNvPr id="39" name="TextBox 38"/>
          <p:cNvSpPr txBox="1"/>
          <p:nvPr/>
        </p:nvSpPr>
        <p:spPr>
          <a:xfrm>
            <a:off x="6675120" y="3584448"/>
            <a:ext cx="1645920" cy="320040"/>
          </a:xfrm>
          <a:prstGeom prst="rect">
            <a:avLst/>
          </a:prstGeom>
          <a:noFill/>
        </p:spPr>
        <p:txBody>
          <a:bodyPr wrap="square">
            <a:spAutoFit/>
          </a:bodyPr>
          <a:lstStyle/>
          <a:p>
            <a:pPr algn="r">
              <a:defRPr sz="1200" b="1">
                <a:solidFill>
                  <a:srgbClr val="1A1A1A"/>
                </a:solidFill>
                <a:latin typeface="Calibri"/>
              </a:defRPr>
            </a:pPr>
            <a:r>
              <a:t>$200,000</a:t>
            </a:r>
          </a:p>
        </p:txBody>
      </p:sp>
      <p:sp>
        <p:nvSpPr>
          <p:cNvPr id="40" name="TextBox 39"/>
          <p:cNvSpPr txBox="1"/>
          <p:nvPr/>
        </p:nvSpPr>
        <p:spPr>
          <a:xfrm>
            <a:off x="8412480" y="3584448"/>
            <a:ext cx="1097280" cy="320040"/>
          </a:xfrm>
          <a:prstGeom prst="rect">
            <a:avLst/>
          </a:prstGeom>
          <a:noFill/>
        </p:spPr>
        <p:txBody>
          <a:bodyPr wrap="square">
            <a:spAutoFit/>
          </a:bodyPr>
          <a:lstStyle/>
          <a:p>
            <a:pPr algn="r">
              <a:defRPr sz="1200" b="0">
                <a:solidFill>
                  <a:srgbClr val="555555"/>
                </a:solidFill>
                <a:latin typeface="Calibri"/>
              </a:defRPr>
            </a:pPr>
            <a:r>
              <a:t>5.1%</a:t>
            </a:r>
          </a:p>
        </p:txBody>
      </p:sp>
      <p:sp>
        <p:nvSpPr>
          <p:cNvPr id="41" name="TextBox 40"/>
          <p:cNvSpPr txBox="1"/>
          <p:nvPr/>
        </p:nvSpPr>
        <p:spPr>
          <a:xfrm>
            <a:off x="9601200" y="3584448"/>
            <a:ext cx="1645920" cy="276999"/>
          </a:xfrm>
          <a:prstGeom prst="rect">
            <a:avLst/>
          </a:prstGeom>
          <a:noFill/>
        </p:spPr>
        <p:txBody>
          <a:bodyPr wrap="square">
            <a:spAutoFit/>
          </a:bodyPr>
          <a:lstStyle/>
          <a:p>
            <a:pPr algn="r">
              <a:defRPr sz="1200" b="0">
                <a:solidFill>
                  <a:srgbClr val="555555"/>
                </a:solidFill>
                <a:latin typeface="Calibri"/>
              </a:defRPr>
            </a:pPr>
            <a:r>
              <a:rPr lang="en-US" dirty="0"/>
              <a:t>1 Weeks </a:t>
            </a:r>
          </a:p>
        </p:txBody>
      </p:sp>
      <p:sp>
        <p:nvSpPr>
          <p:cNvPr id="42" name="Rectangle 41"/>
          <p:cNvSpPr/>
          <p:nvPr/>
        </p:nvSpPr>
        <p:spPr>
          <a:xfrm>
            <a:off x="731520" y="3977639"/>
            <a:ext cx="10698480" cy="411480"/>
          </a:xfrm>
          <a:prstGeom prst="rect">
            <a:avLst/>
          </a:prstGeom>
          <a:solidFill>
            <a:srgbClr val="F5F7FA"/>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4023359"/>
            <a:ext cx="548640" cy="320040"/>
          </a:xfrm>
          <a:prstGeom prst="rect">
            <a:avLst/>
          </a:prstGeom>
          <a:noFill/>
        </p:spPr>
        <p:txBody>
          <a:bodyPr wrap="square">
            <a:spAutoFit/>
          </a:bodyPr>
          <a:lstStyle/>
          <a:p>
            <a:pPr algn="ctr">
              <a:defRPr sz="1200" b="1">
                <a:solidFill>
                  <a:srgbClr val="C9A227"/>
                </a:solidFill>
                <a:latin typeface="Calibri"/>
              </a:defRPr>
            </a:pPr>
            <a:r>
              <a:t>06</a:t>
            </a:r>
          </a:p>
        </p:txBody>
      </p:sp>
      <p:sp>
        <p:nvSpPr>
          <p:cNvPr id="44" name="TextBox 43"/>
          <p:cNvSpPr txBox="1"/>
          <p:nvPr/>
        </p:nvSpPr>
        <p:spPr>
          <a:xfrm>
            <a:off x="1463040" y="4023359"/>
            <a:ext cx="5029200" cy="320040"/>
          </a:xfrm>
          <a:prstGeom prst="rect">
            <a:avLst/>
          </a:prstGeom>
          <a:noFill/>
        </p:spPr>
        <p:txBody>
          <a:bodyPr wrap="square">
            <a:spAutoFit/>
          </a:bodyPr>
          <a:lstStyle/>
          <a:p>
            <a:pPr algn="l">
              <a:defRPr sz="1200" b="0">
                <a:solidFill>
                  <a:srgbClr val="1A1A1A"/>
                </a:solidFill>
                <a:latin typeface="Calibri"/>
              </a:defRPr>
            </a:pPr>
            <a:r>
              <a:t>Security &amp; Environmental Reporting System</a:t>
            </a:r>
          </a:p>
        </p:txBody>
      </p:sp>
      <p:sp>
        <p:nvSpPr>
          <p:cNvPr id="45" name="TextBox 44"/>
          <p:cNvSpPr txBox="1"/>
          <p:nvPr/>
        </p:nvSpPr>
        <p:spPr>
          <a:xfrm>
            <a:off x="6675120" y="4023359"/>
            <a:ext cx="1645920" cy="320040"/>
          </a:xfrm>
          <a:prstGeom prst="rect">
            <a:avLst/>
          </a:prstGeom>
          <a:noFill/>
        </p:spPr>
        <p:txBody>
          <a:bodyPr wrap="square">
            <a:spAutoFit/>
          </a:bodyPr>
          <a:lstStyle/>
          <a:p>
            <a:pPr algn="r">
              <a:defRPr sz="1200" b="1">
                <a:solidFill>
                  <a:srgbClr val="1A1A1A"/>
                </a:solidFill>
                <a:latin typeface="Calibri"/>
              </a:defRPr>
            </a:pPr>
            <a:r>
              <a:t>$450,000</a:t>
            </a:r>
          </a:p>
        </p:txBody>
      </p:sp>
      <p:sp>
        <p:nvSpPr>
          <p:cNvPr id="46" name="TextBox 45"/>
          <p:cNvSpPr txBox="1"/>
          <p:nvPr/>
        </p:nvSpPr>
        <p:spPr>
          <a:xfrm>
            <a:off x="8412480" y="4023359"/>
            <a:ext cx="1097280" cy="320040"/>
          </a:xfrm>
          <a:prstGeom prst="rect">
            <a:avLst/>
          </a:prstGeom>
          <a:noFill/>
        </p:spPr>
        <p:txBody>
          <a:bodyPr wrap="square">
            <a:spAutoFit/>
          </a:bodyPr>
          <a:lstStyle/>
          <a:p>
            <a:pPr algn="r">
              <a:defRPr sz="1200" b="0">
                <a:solidFill>
                  <a:srgbClr val="555555"/>
                </a:solidFill>
                <a:latin typeface="Calibri"/>
              </a:defRPr>
            </a:pPr>
            <a:r>
              <a:rPr dirty="0"/>
              <a:t>11.4%</a:t>
            </a:r>
          </a:p>
        </p:txBody>
      </p:sp>
      <p:sp>
        <p:nvSpPr>
          <p:cNvPr id="47" name="TextBox 46"/>
          <p:cNvSpPr txBox="1"/>
          <p:nvPr/>
        </p:nvSpPr>
        <p:spPr>
          <a:xfrm>
            <a:off x="9601200" y="4023359"/>
            <a:ext cx="1645920" cy="276999"/>
          </a:xfrm>
          <a:prstGeom prst="rect">
            <a:avLst/>
          </a:prstGeom>
          <a:noFill/>
        </p:spPr>
        <p:txBody>
          <a:bodyPr wrap="square">
            <a:spAutoFit/>
          </a:bodyPr>
          <a:lstStyle/>
          <a:p>
            <a:pPr algn="r">
              <a:defRPr sz="1200" b="0">
                <a:solidFill>
                  <a:srgbClr val="555555"/>
                </a:solidFill>
                <a:latin typeface="Calibri"/>
              </a:defRPr>
            </a:pPr>
            <a:r>
              <a:rPr lang="en-US" dirty="0"/>
              <a:t>8 Weeks </a:t>
            </a:r>
          </a:p>
        </p:txBody>
      </p:sp>
      <p:sp>
        <p:nvSpPr>
          <p:cNvPr id="48" name="Rectangle 47"/>
          <p:cNvSpPr/>
          <p:nvPr/>
        </p:nvSpPr>
        <p:spPr>
          <a:xfrm>
            <a:off x="731520" y="4416552"/>
            <a:ext cx="10698480" cy="411480"/>
          </a:xfrm>
          <a:prstGeom prst="rect">
            <a:avLst/>
          </a:prstGeom>
          <a:solidFill>
            <a:srgbClr val="FFFFFF"/>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14400" y="4462272"/>
            <a:ext cx="548640" cy="320040"/>
          </a:xfrm>
          <a:prstGeom prst="rect">
            <a:avLst/>
          </a:prstGeom>
          <a:noFill/>
        </p:spPr>
        <p:txBody>
          <a:bodyPr wrap="square">
            <a:spAutoFit/>
          </a:bodyPr>
          <a:lstStyle/>
          <a:p>
            <a:pPr algn="ctr">
              <a:defRPr sz="1200" b="1">
                <a:solidFill>
                  <a:srgbClr val="C9A227"/>
                </a:solidFill>
                <a:latin typeface="Calibri"/>
              </a:defRPr>
            </a:pPr>
            <a:r>
              <a:t>07</a:t>
            </a:r>
          </a:p>
        </p:txBody>
      </p:sp>
      <p:sp>
        <p:nvSpPr>
          <p:cNvPr id="50" name="TextBox 49"/>
          <p:cNvSpPr txBox="1"/>
          <p:nvPr/>
        </p:nvSpPr>
        <p:spPr>
          <a:xfrm>
            <a:off x="1463040" y="4462272"/>
            <a:ext cx="5029200" cy="320040"/>
          </a:xfrm>
          <a:prstGeom prst="rect">
            <a:avLst/>
          </a:prstGeom>
          <a:noFill/>
        </p:spPr>
        <p:txBody>
          <a:bodyPr wrap="square">
            <a:spAutoFit/>
          </a:bodyPr>
          <a:lstStyle/>
          <a:p>
            <a:pPr algn="l">
              <a:defRPr sz="1200" b="0">
                <a:solidFill>
                  <a:srgbClr val="1A1A1A"/>
                </a:solidFill>
                <a:latin typeface="Calibri"/>
              </a:defRPr>
            </a:pPr>
            <a:r>
              <a:t>Nigeria Data Protection AI Copilot</a:t>
            </a:r>
          </a:p>
        </p:txBody>
      </p:sp>
      <p:sp>
        <p:nvSpPr>
          <p:cNvPr id="51" name="TextBox 50"/>
          <p:cNvSpPr txBox="1"/>
          <p:nvPr/>
        </p:nvSpPr>
        <p:spPr>
          <a:xfrm>
            <a:off x="6675120" y="4462272"/>
            <a:ext cx="1645920" cy="320040"/>
          </a:xfrm>
          <a:prstGeom prst="rect">
            <a:avLst/>
          </a:prstGeom>
          <a:noFill/>
        </p:spPr>
        <p:txBody>
          <a:bodyPr wrap="square">
            <a:spAutoFit/>
          </a:bodyPr>
          <a:lstStyle/>
          <a:p>
            <a:pPr algn="r">
              <a:defRPr sz="1200" b="1">
                <a:solidFill>
                  <a:srgbClr val="1A1A1A"/>
                </a:solidFill>
                <a:latin typeface="Calibri"/>
              </a:defRPr>
            </a:pPr>
            <a:r>
              <a:t>$450,000</a:t>
            </a:r>
          </a:p>
        </p:txBody>
      </p:sp>
      <p:sp>
        <p:nvSpPr>
          <p:cNvPr id="52" name="TextBox 51"/>
          <p:cNvSpPr txBox="1"/>
          <p:nvPr/>
        </p:nvSpPr>
        <p:spPr>
          <a:xfrm>
            <a:off x="8412480" y="4462272"/>
            <a:ext cx="1097280" cy="320040"/>
          </a:xfrm>
          <a:prstGeom prst="rect">
            <a:avLst/>
          </a:prstGeom>
          <a:noFill/>
        </p:spPr>
        <p:txBody>
          <a:bodyPr wrap="square">
            <a:spAutoFit/>
          </a:bodyPr>
          <a:lstStyle/>
          <a:p>
            <a:pPr algn="r">
              <a:defRPr sz="1200" b="0">
                <a:solidFill>
                  <a:srgbClr val="555555"/>
                </a:solidFill>
                <a:latin typeface="Calibri"/>
              </a:defRPr>
            </a:pPr>
            <a:r>
              <a:t>11.4%</a:t>
            </a:r>
          </a:p>
        </p:txBody>
      </p:sp>
      <p:sp>
        <p:nvSpPr>
          <p:cNvPr id="53" name="TextBox 52"/>
          <p:cNvSpPr txBox="1"/>
          <p:nvPr/>
        </p:nvSpPr>
        <p:spPr>
          <a:xfrm>
            <a:off x="9601200" y="4462272"/>
            <a:ext cx="1645920" cy="276999"/>
          </a:xfrm>
          <a:prstGeom prst="rect">
            <a:avLst/>
          </a:prstGeom>
          <a:noFill/>
        </p:spPr>
        <p:txBody>
          <a:bodyPr wrap="square">
            <a:spAutoFit/>
          </a:bodyPr>
          <a:lstStyle/>
          <a:p>
            <a:pPr algn="r">
              <a:defRPr sz="1200" b="0">
                <a:solidFill>
                  <a:srgbClr val="555555"/>
                </a:solidFill>
                <a:latin typeface="Calibri"/>
              </a:defRPr>
            </a:pPr>
            <a:r>
              <a:rPr lang="en-US" dirty="0"/>
              <a:t>8 Weeks </a:t>
            </a:r>
          </a:p>
        </p:txBody>
      </p:sp>
      <p:sp>
        <p:nvSpPr>
          <p:cNvPr id="54" name="Rectangle 53"/>
          <p:cNvSpPr/>
          <p:nvPr/>
        </p:nvSpPr>
        <p:spPr>
          <a:xfrm>
            <a:off x="731520" y="4855464"/>
            <a:ext cx="10698480" cy="411480"/>
          </a:xfrm>
          <a:prstGeom prst="rect">
            <a:avLst/>
          </a:prstGeom>
          <a:solidFill>
            <a:srgbClr val="F5F7FA"/>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14400" y="4901183"/>
            <a:ext cx="548640" cy="320040"/>
          </a:xfrm>
          <a:prstGeom prst="rect">
            <a:avLst/>
          </a:prstGeom>
          <a:noFill/>
        </p:spPr>
        <p:txBody>
          <a:bodyPr wrap="square">
            <a:spAutoFit/>
          </a:bodyPr>
          <a:lstStyle/>
          <a:p>
            <a:pPr algn="ctr">
              <a:defRPr sz="1200" b="1">
                <a:solidFill>
                  <a:srgbClr val="C9A227"/>
                </a:solidFill>
                <a:latin typeface="Calibri"/>
              </a:defRPr>
            </a:pPr>
            <a:r>
              <a:t>08</a:t>
            </a:r>
          </a:p>
        </p:txBody>
      </p:sp>
      <p:sp>
        <p:nvSpPr>
          <p:cNvPr id="56" name="TextBox 55"/>
          <p:cNvSpPr txBox="1"/>
          <p:nvPr/>
        </p:nvSpPr>
        <p:spPr>
          <a:xfrm>
            <a:off x="1463040" y="4901183"/>
            <a:ext cx="5029200" cy="320040"/>
          </a:xfrm>
          <a:prstGeom prst="rect">
            <a:avLst/>
          </a:prstGeom>
          <a:noFill/>
        </p:spPr>
        <p:txBody>
          <a:bodyPr wrap="square">
            <a:spAutoFit/>
          </a:bodyPr>
          <a:lstStyle/>
          <a:p>
            <a:pPr algn="l">
              <a:defRPr sz="1200" b="0">
                <a:solidFill>
                  <a:srgbClr val="1A1A1A"/>
                </a:solidFill>
                <a:latin typeface="Calibri"/>
              </a:defRPr>
            </a:pPr>
            <a:r>
              <a:t>Edo State Service Portal</a:t>
            </a:r>
          </a:p>
        </p:txBody>
      </p:sp>
      <p:sp>
        <p:nvSpPr>
          <p:cNvPr id="57" name="TextBox 56"/>
          <p:cNvSpPr txBox="1"/>
          <p:nvPr/>
        </p:nvSpPr>
        <p:spPr>
          <a:xfrm>
            <a:off x="6675120" y="4901183"/>
            <a:ext cx="1645920" cy="320040"/>
          </a:xfrm>
          <a:prstGeom prst="rect">
            <a:avLst/>
          </a:prstGeom>
          <a:noFill/>
        </p:spPr>
        <p:txBody>
          <a:bodyPr wrap="square">
            <a:spAutoFit/>
          </a:bodyPr>
          <a:lstStyle/>
          <a:p>
            <a:pPr algn="r">
              <a:defRPr sz="1200" b="1">
                <a:solidFill>
                  <a:srgbClr val="1A1A1A"/>
                </a:solidFill>
                <a:latin typeface="Calibri"/>
              </a:defRPr>
            </a:pPr>
            <a:r>
              <a:t>$600,000</a:t>
            </a:r>
          </a:p>
        </p:txBody>
      </p:sp>
      <p:sp>
        <p:nvSpPr>
          <p:cNvPr id="58" name="TextBox 57"/>
          <p:cNvSpPr txBox="1"/>
          <p:nvPr/>
        </p:nvSpPr>
        <p:spPr>
          <a:xfrm>
            <a:off x="8412480" y="4901183"/>
            <a:ext cx="1097280" cy="320040"/>
          </a:xfrm>
          <a:prstGeom prst="rect">
            <a:avLst/>
          </a:prstGeom>
          <a:noFill/>
        </p:spPr>
        <p:txBody>
          <a:bodyPr wrap="square">
            <a:spAutoFit/>
          </a:bodyPr>
          <a:lstStyle/>
          <a:p>
            <a:pPr algn="r">
              <a:defRPr sz="1200" b="0">
                <a:solidFill>
                  <a:srgbClr val="555555"/>
                </a:solidFill>
                <a:latin typeface="Calibri"/>
              </a:defRPr>
            </a:pPr>
            <a:r>
              <a:t>15.2%</a:t>
            </a:r>
          </a:p>
        </p:txBody>
      </p:sp>
      <p:sp>
        <p:nvSpPr>
          <p:cNvPr id="59" name="TextBox 58"/>
          <p:cNvSpPr txBox="1"/>
          <p:nvPr/>
        </p:nvSpPr>
        <p:spPr>
          <a:xfrm>
            <a:off x="9601200" y="4901183"/>
            <a:ext cx="1645920" cy="276999"/>
          </a:xfrm>
          <a:prstGeom prst="rect">
            <a:avLst/>
          </a:prstGeom>
          <a:noFill/>
        </p:spPr>
        <p:txBody>
          <a:bodyPr wrap="square">
            <a:spAutoFit/>
          </a:bodyPr>
          <a:lstStyle/>
          <a:p>
            <a:pPr algn="r">
              <a:defRPr sz="1200" b="0">
                <a:solidFill>
                  <a:srgbClr val="555555"/>
                </a:solidFill>
                <a:latin typeface="Calibri"/>
              </a:defRPr>
            </a:pPr>
            <a:r>
              <a:rPr lang="en-US" dirty="0"/>
              <a:t>12 Weeks </a:t>
            </a:r>
          </a:p>
        </p:txBody>
      </p:sp>
      <p:sp>
        <p:nvSpPr>
          <p:cNvPr id="60" name="Rectangle 59"/>
          <p:cNvSpPr/>
          <p:nvPr/>
        </p:nvSpPr>
        <p:spPr>
          <a:xfrm>
            <a:off x="731520" y="5294376"/>
            <a:ext cx="10698480" cy="411480"/>
          </a:xfrm>
          <a:prstGeom prst="rect">
            <a:avLst/>
          </a:prstGeom>
          <a:solidFill>
            <a:srgbClr val="FFFFFF"/>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14400" y="5340096"/>
            <a:ext cx="548640" cy="320040"/>
          </a:xfrm>
          <a:prstGeom prst="rect">
            <a:avLst/>
          </a:prstGeom>
          <a:noFill/>
        </p:spPr>
        <p:txBody>
          <a:bodyPr wrap="square">
            <a:spAutoFit/>
          </a:bodyPr>
          <a:lstStyle/>
          <a:p>
            <a:pPr algn="ctr">
              <a:defRPr sz="1200" b="1">
                <a:solidFill>
                  <a:srgbClr val="C9A227"/>
                </a:solidFill>
                <a:latin typeface="Calibri"/>
              </a:defRPr>
            </a:pPr>
            <a:r>
              <a:t>09</a:t>
            </a:r>
          </a:p>
        </p:txBody>
      </p:sp>
      <p:sp>
        <p:nvSpPr>
          <p:cNvPr id="62" name="TextBox 61"/>
          <p:cNvSpPr txBox="1"/>
          <p:nvPr/>
        </p:nvSpPr>
        <p:spPr>
          <a:xfrm>
            <a:off x="1463040" y="5340096"/>
            <a:ext cx="5029200" cy="320040"/>
          </a:xfrm>
          <a:prstGeom prst="rect">
            <a:avLst/>
          </a:prstGeom>
          <a:noFill/>
        </p:spPr>
        <p:txBody>
          <a:bodyPr wrap="square">
            <a:spAutoFit/>
          </a:bodyPr>
          <a:lstStyle/>
          <a:p>
            <a:pPr algn="l">
              <a:defRPr sz="1200" b="0">
                <a:solidFill>
                  <a:srgbClr val="1A1A1A"/>
                </a:solidFill>
                <a:latin typeface="Calibri"/>
              </a:defRPr>
            </a:pPr>
            <a:r>
              <a:t>Traditional Stool Management System</a:t>
            </a:r>
          </a:p>
        </p:txBody>
      </p:sp>
      <p:sp>
        <p:nvSpPr>
          <p:cNvPr id="63" name="TextBox 62"/>
          <p:cNvSpPr txBox="1"/>
          <p:nvPr/>
        </p:nvSpPr>
        <p:spPr>
          <a:xfrm>
            <a:off x="6675120" y="5340096"/>
            <a:ext cx="1645920" cy="320040"/>
          </a:xfrm>
          <a:prstGeom prst="rect">
            <a:avLst/>
          </a:prstGeom>
          <a:noFill/>
        </p:spPr>
        <p:txBody>
          <a:bodyPr wrap="square">
            <a:spAutoFit/>
          </a:bodyPr>
          <a:lstStyle/>
          <a:p>
            <a:pPr algn="r">
              <a:defRPr sz="1200" b="1">
                <a:solidFill>
                  <a:srgbClr val="1A1A1A"/>
                </a:solidFill>
                <a:latin typeface="Calibri"/>
              </a:defRPr>
            </a:pPr>
            <a:r>
              <a:t>$300,000</a:t>
            </a:r>
          </a:p>
        </p:txBody>
      </p:sp>
      <p:sp>
        <p:nvSpPr>
          <p:cNvPr id="64" name="TextBox 63"/>
          <p:cNvSpPr txBox="1"/>
          <p:nvPr/>
        </p:nvSpPr>
        <p:spPr>
          <a:xfrm>
            <a:off x="8412480" y="5340096"/>
            <a:ext cx="1097280" cy="320040"/>
          </a:xfrm>
          <a:prstGeom prst="rect">
            <a:avLst/>
          </a:prstGeom>
          <a:noFill/>
        </p:spPr>
        <p:txBody>
          <a:bodyPr wrap="square">
            <a:spAutoFit/>
          </a:bodyPr>
          <a:lstStyle/>
          <a:p>
            <a:pPr algn="r">
              <a:defRPr sz="1200" b="0">
                <a:solidFill>
                  <a:srgbClr val="555555"/>
                </a:solidFill>
                <a:latin typeface="Calibri"/>
              </a:defRPr>
            </a:pPr>
            <a:r>
              <a:t>7.6%</a:t>
            </a:r>
          </a:p>
        </p:txBody>
      </p:sp>
      <p:sp>
        <p:nvSpPr>
          <p:cNvPr id="65" name="TextBox 64"/>
          <p:cNvSpPr txBox="1"/>
          <p:nvPr/>
        </p:nvSpPr>
        <p:spPr>
          <a:xfrm>
            <a:off x="9601200" y="5340096"/>
            <a:ext cx="1645920" cy="276999"/>
          </a:xfrm>
          <a:prstGeom prst="rect">
            <a:avLst/>
          </a:prstGeom>
          <a:noFill/>
        </p:spPr>
        <p:txBody>
          <a:bodyPr wrap="square">
            <a:spAutoFit/>
          </a:bodyPr>
          <a:lstStyle/>
          <a:p>
            <a:pPr algn="r">
              <a:defRPr sz="1200" b="0">
                <a:solidFill>
                  <a:srgbClr val="555555"/>
                </a:solidFill>
                <a:latin typeface="Calibri"/>
              </a:defRPr>
            </a:pPr>
            <a:r>
              <a:rPr lang="en-US" dirty="0"/>
              <a:t>8 Weeks </a:t>
            </a:r>
          </a:p>
        </p:txBody>
      </p:sp>
      <p:sp>
        <p:nvSpPr>
          <p:cNvPr id="66" name="Rectangle 65"/>
          <p:cNvSpPr/>
          <p:nvPr/>
        </p:nvSpPr>
        <p:spPr>
          <a:xfrm>
            <a:off x="731520" y="5733288"/>
            <a:ext cx="10698480" cy="411480"/>
          </a:xfrm>
          <a:prstGeom prst="rect">
            <a:avLst/>
          </a:prstGeom>
          <a:solidFill>
            <a:srgbClr val="F5F7FA"/>
          </a:solidFill>
          <a:ln w="635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14400" y="5779008"/>
            <a:ext cx="548640" cy="320040"/>
          </a:xfrm>
          <a:prstGeom prst="rect">
            <a:avLst/>
          </a:prstGeom>
          <a:noFill/>
        </p:spPr>
        <p:txBody>
          <a:bodyPr wrap="square">
            <a:spAutoFit/>
          </a:bodyPr>
          <a:lstStyle/>
          <a:p>
            <a:pPr algn="ctr">
              <a:defRPr sz="1200" b="1">
                <a:solidFill>
                  <a:srgbClr val="C9A227"/>
                </a:solidFill>
                <a:latin typeface="Calibri"/>
              </a:defRPr>
            </a:pPr>
            <a:r>
              <a:t>10</a:t>
            </a:r>
          </a:p>
        </p:txBody>
      </p:sp>
      <p:sp>
        <p:nvSpPr>
          <p:cNvPr id="68" name="TextBox 67"/>
          <p:cNvSpPr txBox="1"/>
          <p:nvPr/>
        </p:nvSpPr>
        <p:spPr>
          <a:xfrm>
            <a:off x="1463040" y="5779008"/>
            <a:ext cx="5029200" cy="320040"/>
          </a:xfrm>
          <a:prstGeom prst="rect">
            <a:avLst/>
          </a:prstGeom>
          <a:noFill/>
        </p:spPr>
        <p:txBody>
          <a:bodyPr wrap="square">
            <a:spAutoFit/>
          </a:bodyPr>
          <a:lstStyle/>
          <a:p>
            <a:pPr algn="l">
              <a:defRPr sz="1200" b="0">
                <a:solidFill>
                  <a:srgbClr val="1A1A1A"/>
                </a:solidFill>
                <a:latin typeface="Calibri"/>
              </a:defRPr>
            </a:pPr>
            <a:r>
              <a:t>Digital Market Square (E-Commerce Hub)</a:t>
            </a:r>
          </a:p>
        </p:txBody>
      </p:sp>
      <p:sp>
        <p:nvSpPr>
          <p:cNvPr id="69" name="TextBox 68"/>
          <p:cNvSpPr txBox="1"/>
          <p:nvPr/>
        </p:nvSpPr>
        <p:spPr>
          <a:xfrm>
            <a:off x="6675120" y="5779008"/>
            <a:ext cx="1645920" cy="320040"/>
          </a:xfrm>
          <a:prstGeom prst="rect">
            <a:avLst/>
          </a:prstGeom>
          <a:noFill/>
        </p:spPr>
        <p:txBody>
          <a:bodyPr wrap="square">
            <a:spAutoFit/>
          </a:bodyPr>
          <a:lstStyle/>
          <a:p>
            <a:pPr algn="r">
              <a:defRPr sz="1200" b="1">
                <a:solidFill>
                  <a:srgbClr val="1A1A1A"/>
                </a:solidFill>
                <a:latin typeface="Calibri"/>
              </a:defRPr>
            </a:pPr>
            <a:r>
              <a:t>$400,000</a:t>
            </a:r>
          </a:p>
        </p:txBody>
      </p:sp>
      <p:sp>
        <p:nvSpPr>
          <p:cNvPr id="70" name="TextBox 69"/>
          <p:cNvSpPr txBox="1"/>
          <p:nvPr/>
        </p:nvSpPr>
        <p:spPr>
          <a:xfrm>
            <a:off x="8412480" y="5779008"/>
            <a:ext cx="1097280" cy="320040"/>
          </a:xfrm>
          <a:prstGeom prst="rect">
            <a:avLst/>
          </a:prstGeom>
          <a:noFill/>
        </p:spPr>
        <p:txBody>
          <a:bodyPr wrap="square">
            <a:spAutoFit/>
          </a:bodyPr>
          <a:lstStyle/>
          <a:p>
            <a:pPr algn="r">
              <a:defRPr sz="1200" b="0">
                <a:solidFill>
                  <a:srgbClr val="555555"/>
                </a:solidFill>
                <a:latin typeface="Calibri"/>
              </a:defRPr>
            </a:pPr>
            <a:r>
              <a:t>10.1%</a:t>
            </a:r>
          </a:p>
        </p:txBody>
      </p:sp>
      <p:sp>
        <p:nvSpPr>
          <p:cNvPr id="71" name="TextBox 70"/>
          <p:cNvSpPr txBox="1"/>
          <p:nvPr/>
        </p:nvSpPr>
        <p:spPr>
          <a:xfrm>
            <a:off x="9601200" y="5779008"/>
            <a:ext cx="1645920" cy="276999"/>
          </a:xfrm>
          <a:prstGeom prst="rect">
            <a:avLst/>
          </a:prstGeom>
          <a:noFill/>
        </p:spPr>
        <p:txBody>
          <a:bodyPr wrap="square">
            <a:spAutoFit/>
          </a:bodyPr>
          <a:lstStyle/>
          <a:p>
            <a:pPr algn="r">
              <a:defRPr sz="1200" b="0">
                <a:solidFill>
                  <a:srgbClr val="555555"/>
                </a:solidFill>
                <a:latin typeface="Calibri"/>
              </a:defRPr>
            </a:pPr>
            <a:r>
              <a:rPr lang="en-US" dirty="0"/>
              <a:t>16 Weeks </a:t>
            </a:r>
          </a:p>
        </p:txBody>
      </p:sp>
      <p:sp>
        <p:nvSpPr>
          <p:cNvPr id="72" name="Rectangle 71"/>
          <p:cNvSpPr/>
          <p:nvPr/>
        </p:nvSpPr>
        <p:spPr>
          <a:xfrm>
            <a:off x="731520" y="6172200"/>
            <a:ext cx="10698480" cy="4572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14400" y="6245352"/>
            <a:ext cx="5486400" cy="320040"/>
          </a:xfrm>
          <a:prstGeom prst="rect">
            <a:avLst/>
          </a:prstGeom>
          <a:noFill/>
        </p:spPr>
        <p:txBody>
          <a:bodyPr wrap="square">
            <a:spAutoFit/>
          </a:bodyPr>
          <a:lstStyle/>
          <a:p>
            <a:pPr algn="l">
              <a:defRPr sz="1400" b="1">
                <a:solidFill>
                  <a:srgbClr val="FFFFFF"/>
                </a:solidFill>
                <a:latin typeface="Calibri"/>
              </a:defRPr>
            </a:pPr>
            <a:r>
              <a:t>TOTAL PROGRAMME REQUEST</a:t>
            </a:r>
          </a:p>
        </p:txBody>
      </p:sp>
      <p:sp>
        <p:nvSpPr>
          <p:cNvPr id="74" name="TextBox 73"/>
          <p:cNvSpPr txBox="1"/>
          <p:nvPr/>
        </p:nvSpPr>
        <p:spPr>
          <a:xfrm>
            <a:off x="6675120" y="6245352"/>
            <a:ext cx="1645920" cy="320040"/>
          </a:xfrm>
          <a:prstGeom prst="rect">
            <a:avLst/>
          </a:prstGeom>
          <a:noFill/>
        </p:spPr>
        <p:txBody>
          <a:bodyPr wrap="square">
            <a:spAutoFit/>
          </a:bodyPr>
          <a:lstStyle/>
          <a:p>
            <a:pPr algn="r">
              <a:defRPr sz="1400" b="1">
                <a:solidFill>
                  <a:srgbClr val="C9A227"/>
                </a:solidFill>
                <a:latin typeface="Calibri"/>
              </a:defRPr>
            </a:pPr>
            <a:r>
              <a:t>$3,950,000</a:t>
            </a:r>
          </a:p>
        </p:txBody>
      </p:sp>
      <p:sp>
        <p:nvSpPr>
          <p:cNvPr id="75" name="TextBox 74"/>
          <p:cNvSpPr txBox="1"/>
          <p:nvPr/>
        </p:nvSpPr>
        <p:spPr>
          <a:xfrm>
            <a:off x="8412480" y="6245352"/>
            <a:ext cx="1097280" cy="320040"/>
          </a:xfrm>
          <a:prstGeom prst="rect">
            <a:avLst/>
          </a:prstGeom>
          <a:noFill/>
        </p:spPr>
        <p:txBody>
          <a:bodyPr wrap="square">
            <a:spAutoFit/>
          </a:bodyPr>
          <a:lstStyle/>
          <a:p>
            <a:pPr algn="r">
              <a:defRPr sz="1400" b="1">
                <a:solidFill>
                  <a:srgbClr val="C9A227"/>
                </a:solidFill>
                <a:latin typeface="Calibri"/>
              </a:defRPr>
            </a:pPr>
            <a:r>
              <a:t>100%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01</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Relational Database Management &amp; Application Development Training</a:t>
            </a:r>
          </a:p>
        </p:txBody>
      </p:sp>
      <p:sp>
        <p:nvSpPr>
          <p:cNvPr id="7" name="Rounded Rectangle 6"/>
          <p:cNvSpPr/>
          <p:nvPr/>
        </p:nvSpPr>
        <p:spPr>
          <a:xfrm>
            <a:off x="731520" y="1953452"/>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026604"/>
            <a:ext cx="2011680" cy="274320"/>
          </a:xfrm>
          <a:prstGeom prst="rect">
            <a:avLst/>
          </a:prstGeom>
          <a:noFill/>
        </p:spPr>
        <p:txBody>
          <a:bodyPr wrap="square">
            <a:spAutoFit/>
          </a:bodyPr>
          <a:lstStyle/>
          <a:p>
            <a:pPr algn="ctr">
              <a:defRPr sz="1300" b="1">
                <a:solidFill>
                  <a:srgbClr val="FFFFFF"/>
                </a:solidFill>
                <a:latin typeface="Calibri"/>
              </a:defRPr>
            </a:pPr>
            <a:r>
              <a:rPr dirty="0"/>
              <a:t>Budget: $300,000</a:t>
            </a:r>
          </a:p>
        </p:txBody>
      </p:sp>
      <p:sp>
        <p:nvSpPr>
          <p:cNvPr id="9" name="Rounded Rectangle 8"/>
          <p:cNvSpPr/>
          <p:nvPr/>
        </p:nvSpPr>
        <p:spPr>
          <a:xfrm>
            <a:off x="2926080" y="1953452"/>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2026604"/>
            <a:ext cx="2286000" cy="292388"/>
          </a:xfrm>
          <a:prstGeom prst="rect">
            <a:avLst/>
          </a:prstGeom>
          <a:noFill/>
        </p:spPr>
        <p:txBody>
          <a:bodyPr wrap="square">
            <a:spAutoFit/>
          </a:bodyPr>
          <a:lstStyle/>
          <a:p>
            <a:pPr algn="ctr">
              <a:defRPr sz="1300" b="1">
                <a:solidFill>
                  <a:srgbClr val="FFFFFF"/>
                </a:solidFill>
                <a:latin typeface="Calibri"/>
              </a:defRPr>
            </a:pPr>
            <a:r>
              <a:rPr dirty="0"/>
              <a:t>Timeline: </a:t>
            </a:r>
            <a:r>
              <a:rPr lang="en-US" dirty="0"/>
              <a:t>2 Weeks</a:t>
            </a:r>
            <a:endParaRPr dirty="0"/>
          </a:p>
        </p:txBody>
      </p:sp>
      <p:sp>
        <p:nvSpPr>
          <p:cNvPr id="11" name="Rounded Rectangle 10"/>
          <p:cNvSpPr/>
          <p:nvPr/>
        </p:nvSpPr>
        <p:spPr>
          <a:xfrm>
            <a:off x="731520" y="2525857"/>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617297"/>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845897"/>
            <a:ext cx="10332720" cy="457200"/>
          </a:xfrm>
          <a:prstGeom prst="rect">
            <a:avLst/>
          </a:prstGeom>
          <a:noFill/>
        </p:spPr>
        <p:txBody>
          <a:bodyPr wrap="square">
            <a:spAutoFit/>
          </a:bodyPr>
          <a:lstStyle/>
          <a:p>
            <a:pPr algn="l">
              <a:defRPr sz="1400" b="0">
                <a:solidFill>
                  <a:srgbClr val="1A1A1A"/>
                </a:solidFill>
                <a:latin typeface="Calibri"/>
              </a:defRPr>
            </a:pPr>
            <a:r>
              <a:rPr dirty="0"/>
              <a:t>Build practical competence in relational database design, SQL, data modelling, administration and database-driven application development.</a:t>
            </a:r>
          </a:p>
        </p:txBody>
      </p:sp>
      <p:sp>
        <p:nvSpPr>
          <p:cNvPr id="14" name="Rounded Rectangle 13"/>
          <p:cNvSpPr/>
          <p:nvPr/>
        </p:nvSpPr>
        <p:spPr>
          <a:xfrm>
            <a:off x="632307" y="3713672"/>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467" y="3805112"/>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769467" y="4079432"/>
            <a:ext cx="3291840" cy="2560320"/>
          </a:xfrm>
          <a:prstGeom prst="rect">
            <a:avLst/>
          </a:prstGeom>
          <a:noFill/>
        </p:spPr>
        <p:txBody>
          <a:bodyPr wrap="square">
            <a:spAutoFit/>
          </a:bodyPr>
          <a:lstStyle/>
          <a:p>
            <a:pPr algn="l">
              <a:defRPr sz="1300" b="0">
                <a:solidFill>
                  <a:srgbClr val="1A1A1A"/>
                </a:solidFill>
                <a:latin typeface="Calibri"/>
              </a:defRPr>
            </a:pPr>
            <a:r>
              <a:t>ICT students and graduates; government ICT staff; teachers/lecturers; young developers; women and youth entering technology careers.</a:t>
            </a:r>
          </a:p>
        </p:txBody>
      </p:sp>
      <p:sp>
        <p:nvSpPr>
          <p:cNvPr id="17" name="Rounded Rectangle 16"/>
          <p:cNvSpPr/>
          <p:nvPr/>
        </p:nvSpPr>
        <p:spPr>
          <a:xfrm>
            <a:off x="4381346" y="3713672"/>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18507" y="3805112"/>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518507" y="4079432"/>
            <a:ext cx="3291840" cy="2560320"/>
          </a:xfrm>
          <a:prstGeom prst="rect">
            <a:avLst/>
          </a:prstGeom>
          <a:noFill/>
        </p:spPr>
        <p:txBody>
          <a:bodyPr wrap="square">
            <a:spAutoFit/>
          </a:bodyPr>
          <a:lstStyle/>
          <a:p>
            <a:pPr algn="l">
              <a:defRPr sz="1300" b="0">
                <a:solidFill>
                  <a:srgbClr val="1A1A1A"/>
                </a:solidFill>
                <a:latin typeface="Calibri"/>
              </a:defRPr>
            </a:pPr>
            <a:r>
              <a:rPr dirty="0"/>
              <a:t>• Training curriculum and laboratory</a:t>
            </a:r>
            <a:br>
              <a:rPr dirty="0"/>
            </a:br>
            <a:r>
              <a:rPr dirty="0"/>
              <a:t>• 150 trainees</a:t>
            </a:r>
            <a:br>
              <a:rPr dirty="0"/>
            </a:br>
            <a:r>
              <a:rPr dirty="0"/>
              <a:t>• Practical projects</a:t>
            </a:r>
            <a:br>
              <a:rPr dirty="0"/>
            </a:br>
            <a:r>
              <a:rPr dirty="0"/>
              <a:t>• Competency assessments</a:t>
            </a:r>
            <a:br>
              <a:rPr dirty="0"/>
            </a:br>
            <a:r>
              <a:rPr dirty="0"/>
              <a:t>• Mentor network</a:t>
            </a:r>
            <a:br>
              <a:rPr dirty="0"/>
            </a:br>
            <a:r>
              <a:rPr dirty="0"/>
              <a:t>• Training materials and certificates</a:t>
            </a:r>
          </a:p>
        </p:txBody>
      </p:sp>
      <p:sp>
        <p:nvSpPr>
          <p:cNvPr id="20" name="Rounded Rectangle 19"/>
          <p:cNvSpPr/>
          <p:nvPr/>
        </p:nvSpPr>
        <p:spPr>
          <a:xfrm>
            <a:off x="8130387" y="3713672"/>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67547" y="3805112"/>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267547" y="4079432"/>
            <a:ext cx="3291840" cy="2560320"/>
          </a:xfrm>
          <a:prstGeom prst="rect">
            <a:avLst/>
          </a:prstGeom>
          <a:noFill/>
        </p:spPr>
        <p:txBody>
          <a:bodyPr wrap="square">
            <a:spAutoFit/>
          </a:bodyPr>
          <a:lstStyle/>
          <a:p>
            <a:pPr algn="l">
              <a:defRPr sz="1300" b="0">
                <a:solidFill>
                  <a:srgbClr val="1A1A1A"/>
                </a:solidFill>
                <a:latin typeface="Calibri"/>
              </a:defRPr>
            </a:pPr>
            <a:r>
              <a:t>• At least 150 participants trained</a:t>
            </a:r>
            <a:br/>
            <a:r>
              <a:t>• 70%+ demonstrate competency</a:t>
            </a:r>
            <a:br/>
            <a:r>
              <a:t>• At least 20 practical projects completed</a:t>
            </a:r>
            <a:br/>
            <a:r>
              <a:t>• Local technical support pool established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02</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Protected Data Analysis Using AI &amp; Python Programming</a:t>
            </a:r>
          </a:p>
        </p:txBody>
      </p:sp>
      <p:sp>
        <p:nvSpPr>
          <p:cNvPr id="7" name="Rounded Rectangle 6"/>
          <p:cNvSpPr/>
          <p:nvPr/>
        </p:nvSpPr>
        <p:spPr>
          <a:xfrm>
            <a:off x="731520" y="1554480"/>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2011680" cy="274320"/>
          </a:xfrm>
          <a:prstGeom prst="rect">
            <a:avLst/>
          </a:prstGeom>
          <a:noFill/>
        </p:spPr>
        <p:txBody>
          <a:bodyPr wrap="square">
            <a:spAutoFit/>
          </a:bodyPr>
          <a:lstStyle/>
          <a:p>
            <a:pPr algn="ctr">
              <a:defRPr sz="1300" b="1">
                <a:solidFill>
                  <a:srgbClr val="FFFFFF"/>
                </a:solidFill>
                <a:latin typeface="Calibri"/>
              </a:defRPr>
            </a:pPr>
            <a:r>
              <a:t>Budget: $400,000</a:t>
            </a:r>
          </a:p>
        </p:txBody>
      </p:sp>
      <p:sp>
        <p:nvSpPr>
          <p:cNvPr id="9" name="Rounded Rectangle 8"/>
          <p:cNvSpPr/>
          <p:nvPr/>
        </p:nvSpPr>
        <p:spPr>
          <a:xfrm>
            <a:off x="2926080" y="1554480"/>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627632"/>
            <a:ext cx="2286000" cy="292388"/>
          </a:xfrm>
          <a:prstGeom prst="rect">
            <a:avLst/>
          </a:prstGeom>
          <a:noFill/>
        </p:spPr>
        <p:txBody>
          <a:bodyPr wrap="square">
            <a:spAutoFit/>
          </a:bodyPr>
          <a:lstStyle/>
          <a:p>
            <a:pPr algn="ctr">
              <a:defRPr sz="1300" b="1">
                <a:solidFill>
                  <a:srgbClr val="FFFFFF"/>
                </a:solidFill>
                <a:latin typeface="Calibri"/>
              </a:defRPr>
            </a:pPr>
            <a:r>
              <a:rPr dirty="0"/>
              <a:t>Timeline: </a:t>
            </a:r>
            <a:r>
              <a:rPr lang="en-US" dirty="0"/>
              <a:t>1 Weeks</a:t>
            </a:r>
            <a:endParaRPr dirty="0"/>
          </a:p>
        </p:txBody>
      </p:sp>
      <p:sp>
        <p:nvSpPr>
          <p:cNvPr id="11" name="Rounded Rectangle 10"/>
          <p:cNvSpPr/>
          <p:nvPr/>
        </p:nvSpPr>
        <p:spPr>
          <a:xfrm>
            <a:off x="731520" y="2148840"/>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40280"/>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468880"/>
            <a:ext cx="10332720" cy="457200"/>
          </a:xfrm>
          <a:prstGeom prst="rect">
            <a:avLst/>
          </a:prstGeom>
          <a:noFill/>
        </p:spPr>
        <p:txBody>
          <a:bodyPr wrap="square">
            <a:spAutoFit/>
          </a:bodyPr>
          <a:lstStyle/>
          <a:p>
            <a:pPr algn="l">
              <a:defRPr sz="1400" b="0">
                <a:solidFill>
                  <a:srgbClr val="1A1A1A"/>
                </a:solidFill>
                <a:latin typeface="Calibri"/>
              </a:defRPr>
            </a:pPr>
            <a:r>
              <a:t>Develop skills for secure data analysis, Python programming, AI-assisted analytics, privacy-aware processing and responsible data use.</a:t>
            </a:r>
          </a:p>
        </p:txBody>
      </p:sp>
      <p:sp>
        <p:nvSpPr>
          <p:cNvPr id="14" name="Rounded Rectangle 13"/>
          <p:cNvSpPr/>
          <p:nvPr/>
        </p:nvSpPr>
        <p:spPr>
          <a:xfrm>
            <a:off x="73152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868680" y="3520440"/>
            <a:ext cx="3291840" cy="2560320"/>
          </a:xfrm>
          <a:prstGeom prst="rect">
            <a:avLst/>
          </a:prstGeom>
          <a:noFill/>
        </p:spPr>
        <p:txBody>
          <a:bodyPr wrap="square">
            <a:spAutoFit/>
          </a:bodyPr>
          <a:lstStyle/>
          <a:p>
            <a:pPr algn="l">
              <a:defRPr sz="1300" b="0">
                <a:solidFill>
                  <a:srgbClr val="1A1A1A"/>
                </a:solidFill>
                <a:latin typeface="Calibri"/>
              </a:defRPr>
            </a:pPr>
            <a:r>
              <a:t>Government data personnel; analysts; ICT professionals; researchers; educators; selected youth and women in STEM.</a:t>
            </a:r>
          </a:p>
        </p:txBody>
      </p:sp>
      <p:sp>
        <p:nvSpPr>
          <p:cNvPr id="17" name="Rounded Rectangle 16"/>
          <p:cNvSpPr/>
          <p:nvPr/>
        </p:nvSpPr>
        <p:spPr>
          <a:xfrm>
            <a:off x="4480559"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3246120"/>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617720" y="3520440"/>
            <a:ext cx="3291840" cy="2560320"/>
          </a:xfrm>
          <a:prstGeom prst="rect">
            <a:avLst/>
          </a:prstGeom>
          <a:noFill/>
        </p:spPr>
        <p:txBody>
          <a:bodyPr wrap="square">
            <a:spAutoFit/>
          </a:bodyPr>
          <a:lstStyle/>
          <a:p>
            <a:pPr algn="l">
              <a:defRPr sz="1300" b="0">
                <a:solidFill>
                  <a:srgbClr val="1A1A1A"/>
                </a:solidFill>
                <a:latin typeface="Calibri"/>
              </a:defRPr>
            </a:pPr>
            <a:r>
              <a:t>• Protected analytics training lab</a:t>
            </a:r>
            <a:br/>
            <a:r>
              <a:t>• 120 trainees</a:t>
            </a:r>
            <a:br/>
            <a:r>
              <a:t>• Secure-data exercises</a:t>
            </a:r>
            <a:br/>
            <a:r>
              <a:t>• Python/AI curriculum</a:t>
            </a:r>
            <a:br/>
            <a:r>
              <a:t>• Governance and privacy modules</a:t>
            </a:r>
            <a:br/>
            <a:r>
              <a:t>• Capstone projects</a:t>
            </a:r>
          </a:p>
        </p:txBody>
      </p:sp>
      <p:sp>
        <p:nvSpPr>
          <p:cNvPr id="20" name="Rounded Rectangle 19"/>
          <p:cNvSpPr/>
          <p:nvPr/>
        </p:nvSpPr>
        <p:spPr>
          <a:xfrm>
            <a:off x="822960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246120"/>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366760" y="3520440"/>
            <a:ext cx="3291840" cy="2560320"/>
          </a:xfrm>
          <a:prstGeom prst="rect">
            <a:avLst/>
          </a:prstGeom>
          <a:noFill/>
        </p:spPr>
        <p:txBody>
          <a:bodyPr wrap="square">
            <a:spAutoFit/>
          </a:bodyPr>
          <a:lstStyle/>
          <a:p>
            <a:pPr algn="l">
              <a:defRPr sz="1300" b="0">
                <a:solidFill>
                  <a:srgbClr val="1A1A1A"/>
                </a:solidFill>
                <a:latin typeface="Calibri"/>
              </a:defRPr>
            </a:pPr>
            <a:r>
              <a:t>• At least 120 trained</a:t>
            </a:r>
            <a:br/>
            <a:r>
              <a:t>• 30+ analytics prototypes</a:t>
            </a:r>
            <a:br/>
            <a:r>
              <a:t>• Improved data-governance awareness</a:t>
            </a:r>
            <a:br/>
            <a:r>
              <a:t>• Personnel capable of privacy-aware analytics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03</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Waste Disposal &amp; Recycling Management System</a:t>
            </a:r>
          </a:p>
        </p:txBody>
      </p:sp>
      <p:sp>
        <p:nvSpPr>
          <p:cNvPr id="7" name="Rounded Rectangle 6"/>
          <p:cNvSpPr/>
          <p:nvPr/>
        </p:nvSpPr>
        <p:spPr>
          <a:xfrm>
            <a:off x="731520" y="1554480"/>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2011680" cy="274320"/>
          </a:xfrm>
          <a:prstGeom prst="rect">
            <a:avLst/>
          </a:prstGeom>
          <a:noFill/>
        </p:spPr>
        <p:txBody>
          <a:bodyPr wrap="square">
            <a:spAutoFit/>
          </a:bodyPr>
          <a:lstStyle/>
          <a:p>
            <a:pPr algn="ctr">
              <a:defRPr sz="1300" b="1">
                <a:solidFill>
                  <a:srgbClr val="FFFFFF"/>
                </a:solidFill>
                <a:latin typeface="Calibri"/>
              </a:defRPr>
            </a:pPr>
            <a:r>
              <a:t>Budget: $350,000</a:t>
            </a:r>
          </a:p>
        </p:txBody>
      </p:sp>
      <p:sp>
        <p:nvSpPr>
          <p:cNvPr id="9" name="Rounded Rectangle 8"/>
          <p:cNvSpPr/>
          <p:nvPr/>
        </p:nvSpPr>
        <p:spPr>
          <a:xfrm>
            <a:off x="2926080" y="1554480"/>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627632"/>
            <a:ext cx="2286000" cy="292388"/>
          </a:xfrm>
          <a:prstGeom prst="rect">
            <a:avLst/>
          </a:prstGeom>
          <a:noFill/>
        </p:spPr>
        <p:txBody>
          <a:bodyPr wrap="square">
            <a:spAutoFit/>
          </a:bodyPr>
          <a:lstStyle/>
          <a:p>
            <a:pPr algn="ctr">
              <a:defRPr sz="1300" b="1">
                <a:solidFill>
                  <a:srgbClr val="FFFFFF"/>
                </a:solidFill>
                <a:latin typeface="Calibri"/>
              </a:defRPr>
            </a:pPr>
            <a:r>
              <a:rPr dirty="0"/>
              <a:t>Timeline: </a:t>
            </a:r>
            <a:r>
              <a:rPr lang="en-US" dirty="0"/>
              <a:t>8 Weeks</a:t>
            </a:r>
            <a:endParaRPr dirty="0"/>
          </a:p>
        </p:txBody>
      </p:sp>
      <p:sp>
        <p:nvSpPr>
          <p:cNvPr id="11" name="Rounded Rectangle 10"/>
          <p:cNvSpPr/>
          <p:nvPr/>
        </p:nvSpPr>
        <p:spPr>
          <a:xfrm>
            <a:off x="731520" y="2148840"/>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40280"/>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468880"/>
            <a:ext cx="10332720" cy="457200"/>
          </a:xfrm>
          <a:prstGeom prst="rect">
            <a:avLst/>
          </a:prstGeom>
          <a:noFill/>
        </p:spPr>
        <p:txBody>
          <a:bodyPr wrap="square">
            <a:spAutoFit/>
          </a:bodyPr>
          <a:lstStyle/>
          <a:p>
            <a:pPr algn="l">
              <a:defRPr sz="1400" b="0">
                <a:solidFill>
                  <a:srgbClr val="1A1A1A"/>
                </a:solidFill>
                <a:latin typeface="Calibri"/>
              </a:defRPr>
            </a:pPr>
            <a:r>
              <a:t>Digitise waste collection, disposal, recycling, environmental reporting, service-provider management, location tracking and operational monitoring.</a:t>
            </a:r>
          </a:p>
        </p:txBody>
      </p:sp>
      <p:sp>
        <p:nvSpPr>
          <p:cNvPr id="14" name="Rounded Rectangle 13"/>
          <p:cNvSpPr/>
          <p:nvPr/>
        </p:nvSpPr>
        <p:spPr>
          <a:xfrm>
            <a:off x="73152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868680" y="3520440"/>
            <a:ext cx="3291840" cy="2560320"/>
          </a:xfrm>
          <a:prstGeom prst="rect">
            <a:avLst/>
          </a:prstGeom>
          <a:noFill/>
        </p:spPr>
        <p:txBody>
          <a:bodyPr wrap="square">
            <a:spAutoFit/>
          </a:bodyPr>
          <a:lstStyle/>
          <a:p>
            <a:pPr algn="l">
              <a:defRPr sz="1300" b="0">
                <a:solidFill>
                  <a:srgbClr val="1A1A1A"/>
                </a:solidFill>
                <a:latin typeface="Calibri"/>
              </a:defRPr>
            </a:pPr>
            <a:r>
              <a:t>Environmental agencies; local governments; waste operators; communities; households; recyclers; policy makers.</a:t>
            </a:r>
          </a:p>
        </p:txBody>
      </p:sp>
      <p:sp>
        <p:nvSpPr>
          <p:cNvPr id="17" name="Rounded Rectangle 16"/>
          <p:cNvSpPr/>
          <p:nvPr/>
        </p:nvSpPr>
        <p:spPr>
          <a:xfrm>
            <a:off x="4480559"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3246120"/>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617720" y="3520440"/>
            <a:ext cx="3291840" cy="2560320"/>
          </a:xfrm>
          <a:prstGeom prst="rect">
            <a:avLst/>
          </a:prstGeom>
          <a:noFill/>
        </p:spPr>
        <p:txBody>
          <a:bodyPr wrap="square">
            <a:spAutoFit/>
          </a:bodyPr>
          <a:lstStyle/>
          <a:p>
            <a:pPr algn="l">
              <a:defRPr sz="1300" b="0">
                <a:solidFill>
                  <a:srgbClr val="1A1A1A"/>
                </a:solidFill>
                <a:latin typeface="Calibri"/>
              </a:defRPr>
            </a:pPr>
            <a:r>
              <a:t>• Requirements study</a:t>
            </a:r>
            <a:br/>
            <a:r>
              <a:t>• Web/mobile platform</a:t>
            </a:r>
            <a:br/>
            <a:r>
              <a:t>• Dashboards and reporting workflow</a:t>
            </a:r>
            <a:br/>
            <a:r>
              <a:t>• GIS/location functions</a:t>
            </a:r>
            <a:br/>
            <a:r>
              <a:t>• Pilot deployment</a:t>
            </a:r>
            <a:br/>
            <a:r>
              <a:t>• Training and documentation</a:t>
            </a:r>
          </a:p>
        </p:txBody>
      </p:sp>
      <p:sp>
        <p:nvSpPr>
          <p:cNvPr id="20" name="Rounded Rectangle 19"/>
          <p:cNvSpPr/>
          <p:nvPr/>
        </p:nvSpPr>
        <p:spPr>
          <a:xfrm>
            <a:off x="822960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246120"/>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366760" y="3520440"/>
            <a:ext cx="3291840" cy="2560320"/>
          </a:xfrm>
          <a:prstGeom prst="rect">
            <a:avLst/>
          </a:prstGeom>
          <a:noFill/>
        </p:spPr>
        <p:txBody>
          <a:bodyPr wrap="square">
            <a:spAutoFit/>
          </a:bodyPr>
          <a:lstStyle/>
          <a:p>
            <a:pPr algn="l">
              <a:defRPr sz="1300" b="0">
                <a:solidFill>
                  <a:srgbClr val="1A1A1A"/>
                </a:solidFill>
                <a:latin typeface="Calibri"/>
              </a:defRPr>
            </a:pPr>
            <a:r>
              <a:t>• Operational pilot deployed</a:t>
            </a:r>
            <a:br/>
            <a:r>
              <a:t>• Faster reporting and tracking</a:t>
            </a:r>
            <a:br/>
            <a:r>
              <a:t>• Improved visibility of waste activities</a:t>
            </a:r>
            <a:br/>
            <a:r>
              <a:t>• Measurable service-provider and recycling data</a:t>
            </a:r>
            <a:br/>
            <a:r>
              <a:t>• Evidence base for environmental planning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04</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Examination, Assessment &amp; Academic Performance System</a:t>
            </a:r>
          </a:p>
        </p:txBody>
      </p:sp>
      <p:sp>
        <p:nvSpPr>
          <p:cNvPr id="7" name="Rounded Rectangle 6"/>
          <p:cNvSpPr/>
          <p:nvPr/>
        </p:nvSpPr>
        <p:spPr>
          <a:xfrm>
            <a:off x="731520" y="1554480"/>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2011680" cy="274320"/>
          </a:xfrm>
          <a:prstGeom prst="rect">
            <a:avLst/>
          </a:prstGeom>
          <a:noFill/>
        </p:spPr>
        <p:txBody>
          <a:bodyPr wrap="square">
            <a:spAutoFit/>
          </a:bodyPr>
          <a:lstStyle/>
          <a:p>
            <a:pPr algn="ctr">
              <a:defRPr sz="1300" b="1">
                <a:solidFill>
                  <a:srgbClr val="FFFFFF"/>
                </a:solidFill>
                <a:latin typeface="Calibri"/>
              </a:defRPr>
            </a:pPr>
            <a:r>
              <a:t>Budget: $500,000</a:t>
            </a:r>
          </a:p>
        </p:txBody>
      </p:sp>
      <p:sp>
        <p:nvSpPr>
          <p:cNvPr id="9" name="Rounded Rectangle 8"/>
          <p:cNvSpPr/>
          <p:nvPr/>
        </p:nvSpPr>
        <p:spPr>
          <a:xfrm>
            <a:off x="2926080" y="1554480"/>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627632"/>
            <a:ext cx="2286000" cy="292388"/>
          </a:xfrm>
          <a:prstGeom prst="rect">
            <a:avLst/>
          </a:prstGeom>
          <a:noFill/>
        </p:spPr>
        <p:txBody>
          <a:bodyPr wrap="square">
            <a:spAutoFit/>
          </a:bodyPr>
          <a:lstStyle/>
          <a:p>
            <a:pPr algn="ctr">
              <a:defRPr sz="1300" b="1">
                <a:solidFill>
                  <a:srgbClr val="FFFFFF"/>
                </a:solidFill>
                <a:latin typeface="Calibri"/>
              </a:defRPr>
            </a:pPr>
            <a:r>
              <a:rPr dirty="0"/>
              <a:t>Timeline: </a:t>
            </a:r>
            <a:r>
              <a:rPr lang="en-US" dirty="0"/>
              <a:t>8 Weeks</a:t>
            </a:r>
            <a:endParaRPr dirty="0"/>
          </a:p>
        </p:txBody>
      </p:sp>
      <p:sp>
        <p:nvSpPr>
          <p:cNvPr id="11" name="Rounded Rectangle 10"/>
          <p:cNvSpPr/>
          <p:nvPr/>
        </p:nvSpPr>
        <p:spPr>
          <a:xfrm>
            <a:off x="731520" y="2148840"/>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40280"/>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468880"/>
            <a:ext cx="10332720" cy="457200"/>
          </a:xfrm>
          <a:prstGeom prst="rect">
            <a:avLst/>
          </a:prstGeom>
          <a:noFill/>
        </p:spPr>
        <p:txBody>
          <a:bodyPr wrap="square">
            <a:spAutoFit/>
          </a:bodyPr>
          <a:lstStyle/>
          <a:p>
            <a:pPr algn="l">
              <a:defRPr sz="1400" b="0">
                <a:solidFill>
                  <a:srgbClr val="1A1A1A"/>
                </a:solidFill>
                <a:latin typeface="Calibri"/>
              </a:defRPr>
            </a:pPr>
            <a:r>
              <a:t>Strengthen examination administration, question management, assessment, marking, results, academic records, performance analysis and digital verification.</a:t>
            </a:r>
          </a:p>
        </p:txBody>
      </p:sp>
      <p:sp>
        <p:nvSpPr>
          <p:cNvPr id="14" name="Rounded Rectangle 13"/>
          <p:cNvSpPr/>
          <p:nvPr/>
        </p:nvSpPr>
        <p:spPr>
          <a:xfrm>
            <a:off x="73152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868680" y="3520440"/>
            <a:ext cx="3291840" cy="2560320"/>
          </a:xfrm>
          <a:prstGeom prst="rect">
            <a:avLst/>
          </a:prstGeom>
          <a:noFill/>
        </p:spPr>
        <p:txBody>
          <a:bodyPr wrap="square">
            <a:spAutoFit/>
          </a:bodyPr>
          <a:lstStyle/>
          <a:p>
            <a:pPr algn="l">
              <a:defRPr sz="1300" b="0">
                <a:solidFill>
                  <a:srgbClr val="1A1A1A"/>
                </a:solidFill>
                <a:latin typeface="Calibri"/>
              </a:defRPr>
            </a:pPr>
            <a:r>
              <a:t>Schools; teachers; education administrators; pupils/students; parents/guardians; quality-assurance personnel; policy makers.</a:t>
            </a:r>
          </a:p>
        </p:txBody>
      </p:sp>
      <p:sp>
        <p:nvSpPr>
          <p:cNvPr id="17" name="Rounded Rectangle 16"/>
          <p:cNvSpPr/>
          <p:nvPr/>
        </p:nvSpPr>
        <p:spPr>
          <a:xfrm>
            <a:off x="4480559"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3246120"/>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617720" y="3520440"/>
            <a:ext cx="3291840" cy="2560320"/>
          </a:xfrm>
          <a:prstGeom prst="rect">
            <a:avLst/>
          </a:prstGeom>
          <a:noFill/>
        </p:spPr>
        <p:txBody>
          <a:bodyPr wrap="square">
            <a:spAutoFit/>
          </a:bodyPr>
          <a:lstStyle/>
          <a:p>
            <a:pPr algn="l">
              <a:defRPr sz="1300" b="0">
                <a:solidFill>
                  <a:srgbClr val="1A1A1A"/>
                </a:solidFill>
                <a:latin typeface="Calibri"/>
              </a:defRPr>
            </a:pPr>
            <a:r>
              <a:t>• End-to-end examination platform</a:t>
            </a:r>
            <a:br/>
            <a:r>
              <a:t>• Question and assessment workflows</a:t>
            </a:r>
            <a:br/>
            <a:r>
              <a:t>• Results engine and report cards</a:t>
            </a:r>
            <a:br/>
            <a:r>
              <a:t>• Performance analytics</a:t>
            </a:r>
            <a:br/>
            <a:r>
              <a:t>• Digital verification</a:t>
            </a:r>
            <a:br/>
            <a:r>
              <a:t>• Training and pilot/scale plan</a:t>
            </a:r>
          </a:p>
        </p:txBody>
      </p:sp>
      <p:sp>
        <p:nvSpPr>
          <p:cNvPr id="20" name="Rounded Rectangle 19"/>
          <p:cNvSpPr/>
          <p:nvPr/>
        </p:nvSpPr>
        <p:spPr>
          <a:xfrm>
            <a:off x="822960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246120"/>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366760" y="3520440"/>
            <a:ext cx="3291840" cy="2560320"/>
          </a:xfrm>
          <a:prstGeom prst="rect">
            <a:avLst/>
          </a:prstGeom>
          <a:noFill/>
        </p:spPr>
        <p:txBody>
          <a:bodyPr wrap="square">
            <a:spAutoFit/>
          </a:bodyPr>
          <a:lstStyle/>
          <a:p>
            <a:pPr algn="l">
              <a:defRPr sz="1300" b="0">
                <a:solidFill>
                  <a:srgbClr val="1A1A1A"/>
                </a:solidFill>
                <a:latin typeface="Calibri"/>
              </a:defRPr>
            </a:pPr>
            <a:r>
              <a:t>• Reduced manual processing</a:t>
            </a:r>
            <a:br/>
            <a:r>
              <a:t>• Improved result integrity and traceability</a:t>
            </a:r>
            <a:br/>
            <a:r>
              <a:t>• Timely academic reporting</a:t>
            </a:r>
            <a:br/>
            <a:r>
              <a:t>• Institutional performance dashboards</a:t>
            </a:r>
            <a:br/>
            <a:r>
              <a:t>• Scalable education data infrastructure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05</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Digital Technology Exhibition</a:t>
            </a:r>
          </a:p>
        </p:txBody>
      </p:sp>
      <p:sp>
        <p:nvSpPr>
          <p:cNvPr id="7" name="Rounded Rectangle 6"/>
          <p:cNvSpPr/>
          <p:nvPr/>
        </p:nvSpPr>
        <p:spPr>
          <a:xfrm>
            <a:off x="731520" y="1554480"/>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2011680" cy="274320"/>
          </a:xfrm>
          <a:prstGeom prst="rect">
            <a:avLst/>
          </a:prstGeom>
          <a:noFill/>
        </p:spPr>
        <p:txBody>
          <a:bodyPr wrap="square">
            <a:spAutoFit/>
          </a:bodyPr>
          <a:lstStyle/>
          <a:p>
            <a:pPr algn="ctr">
              <a:defRPr sz="1300" b="1">
                <a:solidFill>
                  <a:srgbClr val="FFFFFF"/>
                </a:solidFill>
                <a:latin typeface="Calibri"/>
              </a:defRPr>
            </a:pPr>
            <a:r>
              <a:t>Budget: $200,000</a:t>
            </a:r>
          </a:p>
        </p:txBody>
      </p:sp>
      <p:sp>
        <p:nvSpPr>
          <p:cNvPr id="9" name="Rounded Rectangle 8"/>
          <p:cNvSpPr/>
          <p:nvPr/>
        </p:nvSpPr>
        <p:spPr>
          <a:xfrm>
            <a:off x="2926080" y="1554480"/>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627632"/>
            <a:ext cx="2286000" cy="292388"/>
          </a:xfrm>
          <a:prstGeom prst="rect">
            <a:avLst/>
          </a:prstGeom>
          <a:noFill/>
        </p:spPr>
        <p:txBody>
          <a:bodyPr wrap="square">
            <a:spAutoFit/>
          </a:bodyPr>
          <a:lstStyle/>
          <a:p>
            <a:pPr algn="ctr">
              <a:defRPr sz="1300" b="1">
                <a:solidFill>
                  <a:srgbClr val="FFFFFF"/>
                </a:solidFill>
                <a:latin typeface="Calibri"/>
              </a:defRPr>
            </a:pPr>
            <a:r>
              <a:rPr dirty="0"/>
              <a:t>Timeline:</a:t>
            </a:r>
            <a:r>
              <a:rPr lang="en-US" dirty="0"/>
              <a:t> 8 Weeks</a:t>
            </a:r>
            <a:endParaRPr dirty="0"/>
          </a:p>
        </p:txBody>
      </p:sp>
      <p:sp>
        <p:nvSpPr>
          <p:cNvPr id="11" name="Rounded Rectangle 10"/>
          <p:cNvSpPr/>
          <p:nvPr/>
        </p:nvSpPr>
        <p:spPr>
          <a:xfrm>
            <a:off x="731520" y="2148840"/>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40280"/>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468880"/>
            <a:ext cx="10332720" cy="457200"/>
          </a:xfrm>
          <a:prstGeom prst="rect">
            <a:avLst/>
          </a:prstGeom>
          <a:noFill/>
        </p:spPr>
        <p:txBody>
          <a:bodyPr wrap="square">
            <a:spAutoFit/>
          </a:bodyPr>
          <a:lstStyle/>
          <a:p>
            <a:pPr algn="l">
              <a:defRPr sz="1400" b="0">
                <a:solidFill>
                  <a:srgbClr val="1A1A1A"/>
                </a:solidFill>
                <a:latin typeface="Calibri"/>
              </a:defRPr>
            </a:pPr>
            <a:r>
              <a:t>Create a public platform for demonstrating locally developed technology, AI, data systems, automation and solutions to societal challenges.</a:t>
            </a:r>
          </a:p>
        </p:txBody>
      </p:sp>
      <p:sp>
        <p:nvSpPr>
          <p:cNvPr id="14" name="Rounded Rectangle 13"/>
          <p:cNvSpPr/>
          <p:nvPr/>
        </p:nvSpPr>
        <p:spPr>
          <a:xfrm>
            <a:off x="73152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868680" y="3520440"/>
            <a:ext cx="3291840" cy="2560320"/>
          </a:xfrm>
          <a:prstGeom prst="rect">
            <a:avLst/>
          </a:prstGeom>
          <a:noFill/>
        </p:spPr>
        <p:txBody>
          <a:bodyPr wrap="square">
            <a:spAutoFit/>
          </a:bodyPr>
          <a:lstStyle/>
          <a:p>
            <a:pPr algn="l">
              <a:defRPr sz="1300" b="0">
                <a:solidFill>
                  <a:srgbClr val="1A1A1A"/>
                </a:solidFill>
                <a:latin typeface="Calibri"/>
              </a:defRPr>
            </a:pPr>
            <a:r>
              <a:t>Students; innovators; startups; schools; government institutions; private sector; development partners; general public.</a:t>
            </a:r>
          </a:p>
        </p:txBody>
      </p:sp>
      <p:sp>
        <p:nvSpPr>
          <p:cNvPr id="17" name="Rounded Rectangle 16"/>
          <p:cNvSpPr/>
          <p:nvPr/>
        </p:nvSpPr>
        <p:spPr>
          <a:xfrm>
            <a:off x="4480559"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3246120"/>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617720" y="3520440"/>
            <a:ext cx="3291840" cy="2560320"/>
          </a:xfrm>
          <a:prstGeom prst="rect">
            <a:avLst/>
          </a:prstGeom>
          <a:noFill/>
        </p:spPr>
        <p:txBody>
          <a:bodyPr wrap="square">
            <a:spAutoFit/>
          </a:bodyPr>
          <a:lstStyle/>
          <a:p>
            <a:pPr algn="l">
              <a:defRPr sz="1300" b="0">
                <a:solidFill>
                  <a:srgbClr val="1A1A1A"/>
                </a:solidFill>
                <a:latin typeface="Calibri"/>
              </a:defRPr>
            </a:pPr>
            <a:r>
              <a:t>• Annual exhibition (3 cycles)</a:t>
            </a:r>
            <a:br/>
            <a:r>
              <a:t>• Live demonstrations</a:t>
            </a:r>
            <a:br/>
            <a:r>
              <a:t>• Innovation showcase</a:t>
            </a:r>
            <a:br/>
            <a:r>
              <a:t>• Workshops and policy dialogue</a:t>
            </a:r>
            <a:br/>
            <a:r>
              <a:t>• Youth challenge</a:t>
            </a:r>
            <a:br/>
            <a:r>
              <a:t>• Documentation and media materials</a:t>
            </a:r>
          </a:p>
        </p:txBody>
      </p:sp>
      <p:sp>
        <p:nvSpPr>
          <p:cNvPr id="20" name="Rounded Rectangle 19"/>
          <p:cNvSpPr/>
          <p:nvPr/>
        </p:nvSpPr>
        <p:spPr>
          <a:xfrm>
            <a:off x="822960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246120"/>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366760" y="3520440"/>
            <a:ext cx="3291840" cy="2560320"/>
          </a:xfrm>
          <a:prstGeom prst="rect">
            <a:avLst/>
          </a:prstGeom>
          <a:noFill/>
        </p:spPr>
        <p:txBody>
          <a:bodyPr wrap="square">
            <a:spAutoFit/>
          </a:bodyPr>
          <a:lstStyle/>
          <a:p>
            <a:pPr algn="l">
              <a:defRPr sz="1300" b="0">
                <a:solidFill>
                  <a:srgbClr val="1A1A1A"/>
                </a:solidFill>
                <a:latin typeface="Calibri"/>
              </a:defRPr>
            </a:pPr>
            <a:r>
              <a:t>• Three exhibition cycles delivered</a:t>
            </a:r>
            <a:br/>
            <a:r>
              <a:t>• Increased visibility of local innovation</a:t>
            </a:r>
            <a:br/>
            <a:r>
              <a:t>• Partnerships generated</a:t>
            </a:r>
            <a:br/>
            <a:r>
              <a:t>• Youth participation increased</a:t>
            </a:r>
            <a:br/>
            <a:r>
              <a:t>• Technology solutions connected to institutional needs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06</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Security &amp; Societal/Environmental Reporting System</a:t>
            </a:r>
          </a:p>
        </p:txBody>
      </p:sp>
      <p:sp>
        <p:nvSpPr>
          <p:cNvPr id="7" name="Rounded Rectangle 6"/>
          <p:cNvSpPr/>
          <p:nvPr/>
        </p:nvSpPr>
        <p:spPr>
          <a:xfrm>
            <a:off x="731520" y="1554480"/>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2011680" cy="274320"/>
          </a:xfrm>
          <a:prstGeom prst="rect">
            <a:avLst/>
          </a:prstGeom>
          <a:noFill/>
        </p:spPr>
        <p:txBody>
          <a:bodyPr wrap="square">
            <a:spAutoFit/>
          </a:bodyPr>
          <a:lstStyle/>
          <a:p>
            <a:pPr algn="ctr">
              <a:defRPr sz="1300" b="1">
                <a:solidFill>
                  <a:srgbClr val="FFFFFF"/>
                </a:solidFill>
                <a:latin typeface="Calibri"/>
              </a:defRPr>
            </a:pPr>
            <a:r>
              <a:t>Budget: $450,000</a:t>
            </a:r>
          </a:p>
        </p:txBody>
      </p:sp>
      <p:sp>
        <p:nvSpPr>
          <p:cNvPr id="9" name="Rounded Rectangle 8"/>
          <p:cNvSpPr/>
          <p:nvPr/>
        </p:nvSpPr>
        <p:spPr>
          <a:xfrm>
            <a:off x="2926080" y="1554480"/>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627632"/>
            <a:ext cx="2286000" cy="292388"/>
          </a:xfrm>
          <a:prstGeom prst="rect">
            <a:avLst/>
          </a:prstGeom>
          <a:noFill/>
        </p:spPr>
        <p:txBody>
          <a:bodyPr wrap="square">
            <a:spAutoFit/>
          </a:bodyPr>
          <a:lstStyle/>
          <a:p>
            <a:pPr algn="ctr">
              <a:defRPr sz="1300" b="1">
                <a:solidFill>
                  <a:srgbClr val="FFFFFF"/>
                </a:solidFill>
                <a:latin typeface="Calibri"/>
              </a:defRPr>
            </a:pPr>
            <a:r>
              <a:rPr dirty="0"/>
              <a:t>Timeline: </a:t>
            </a:r>
            <a:r>
              <a:rPr lang="en-US" dirty="0"/>
              <a:t>8 Weeks</a:t>
            </a:r>
            <a:endParaRPr dirty="0"/>
          </a:p>
        </p:txBody>
      </p:sp>
      <p:sp>
        <p:nvSpPr>
          <p:cNvPr id="11" name="Rounded Rectangle 10"/>
          <p:cNvSpPr/>
          <p:nvPr/>
        </p:nvSpPr>
        <p:spPr>
          <a:xfrm>
            <a:off x="731520" y="2148840"/>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40280"/>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468880"/>
            <a:ext cx="10332720" cy="457200"/>
          </a:xfrm>
          <a:prstGeom prst="rect">
            <a:avLst/>
          </a:prstGeom>
          <a:noFill/>
        </p:spPr>
        <p:txBody>
          <a:bodyPr wrap="square">
            <a:spAutoFit/>
          </a:bodyPr>
          <a:lstStyle/>
          <a:p>
            <a:pPr algn="l">
              <a:defRPr sz="1400" b="0">
                <a:solidFill>
                  <a:srgbClr val="1A1A1A"/>
                </a:solidFill>
                <a:latin typeface="Calibri"/>
              </a:defRPr>
            </a:pPr>
            <a:r>
              <a:t>Provide a secure reporting, tracking, analysis, escalation and management platform for appropriate security, societal and environmental reports.</a:t>
            </a:r>
          </a:p>
        </p:txBody>
      </p:sp>
      <p:sp>
        <p:nvSpPr>
          <p:cNvPr id="14" name="Rounded Rectangle 13"/>
          <p:cNvSpPr/>
          <p:nvPr/>
        </p:nvSpPr>
        <p:spPr>
          <a:xfrm>
            <a:off x="73152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868680" y="3520440"/>
            <a:ext cx="3291840" cy="2560320"/>
          </a:xfrm>
          <a:prstGeom prst="rect">
            <a:avLst/>
          </a:prstGeom>
          <a:noFill/>
        </p:spPr>
        <p:txBody>
          <a:bodyPr wrap="square">
            <a:spAutoFit/>
          </a:bodyPr>
          <a:lstStyle/>
          <a:p>
            <a:pPr algn="l">
              <a:defRPr sz="1300" b="0">
                <a:solidFill>
                  <a:srgbClr val="1A1A1A"/>
                </a:solidFill>
                <a:latin typeface="Calibri"/>
              </a:defRPr>
            </a:pPr>
            <a:r>
              <a:t>Government response agencies; communities; local authorities; authorised officers; civil-society and community stakeholders.</a:t>
            </a:r>
          </a:p>
        </p:txBody>
      </p:sp>
      <p:sp>
        <p:nvSpPr>
          <p:cNvPr id="17" name="Rounded Rectangle 16"/>
          <p:cNvSpPr/>
          <p:nvPr/>
        </p:nvSpPr>
        <p:spPr>
          <a:xfrm>
            <a:off x="4480559"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3246120"/>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617720" y="3520440"/>
            <a:ext cx="3291840" cy="2560320"/>
          </a:xfrm>
          <a:prstGeom prst="rect">
            <a:avLst/>
          </a:prstGeom>
          <a:noFill/>
        </p:spPr>
        <p:txBody>
          <a:bodyPr wrap="square">
            <a:spAutoFit/>
          </a:bodyPr>
          <a:lstStyle/>
          <a:p>
            <a:pPr algn="l">
              <a:defRPr sz="1300" b="0">
                <a:solidFill>
                  <a:srgbClr val="1A1A1A"/>
                </a:solidFill>
                <a:latin typeface="Calibri"/>
              </a:defRPr>
            </a:pPr>
            <a:r>
              <a:t>• Secure reporting channels</a:t>
            </a:r>
            <a:br/>
            <a:r>
              <a:t>• Case management and workflow</a:t>
            </a:r>
            <a:br/>
            <a:r>
              <a:t>• Escalation and dashboards</a:t>
            </a:r>
            <a:br/>
            <a:r>
              <a:t>• Analytics and role-based access</a:t>
            </a:r>
            <a:br/>
            <a:r>
              <a:t>• Audit trails and privacy controls</a:t>
            </a:r>
            <a:br/>
            <a:r>
              <a:t>• Pilot deployment</a:t>
            </a:r>
          </a:p>
        </p:txBody>
      </p:sp>
      <p:sp>
        <p:nvSpPr>
          <p:cNvPr id="20" name="Rounded Rectangle 19"/>
          <p:cNvSpPr/>
          <p:nvPr/>
        </p:nvSpPr>
        <p:spPr>
          <a:xfrm>
            <a:off x="822960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246120"/>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366760" y="3520440"/>
            <a:ext cx="3291840" cy="2560320"/>
          </a:xfrm>
          <a:prstGeom prst="rect">
            <a:avLst/>
          </a:prstGeom>
          <a:noFill/>
        </p:spPr>
        <p:txBody>
          <a:bodyPr wrap="square">
            <a:spAutoFit/>
          </a:bodyPr>
          <a:lstStyle/>
          <a:p>
            <a:pPr algn="l">
              <a:defRPr sz="1300" b="0">
                <a:solidFill>
                  <a:srgbClr val="1A1A1A"/>
                </a:solidFill>
                <a:latin typeface="Calibri"/>
              </a:defRPr>
            </a:pPr>
            <a:r>
              <a:t>• Improved report routing and case visibility</a:t>
            </a:r>
            <a:br/>
            <a:r>
              <a:t>• Faster administrative response</a:t>
            </a:r>
            <a:br/>
            <a:r>
              <a:t>• Auditable workflows</a:t>
            </a:r>
            <a:br/>
            <a:r>
              <a:t>• Better aggregated evidence for planning</a:t>
            </a:r>
            <a:br/>
            <a:r>
              <a:t>• Strengthened safeguards for sensitive information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07</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Nigeria Data Protection Act AI Copilot</a:t>
            </a:r>
          </a:p>
        </p:txBody>
      </p:sp>
      <p:sp>
        <p:nvSpPr>
          <p:cNvPr id="7" name="Rounded Rectangle 6"/>
          <p:cNvSpPr/>
          <p:nvPr/>
        </p:nvSpPr>
        <p:spPr>
          <a:xfrm>
            <a:off x="731520" y="1554480"/>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2011680" cy="274320"/>
          </a:xfrm>
          <a:prstGeom prst="rect">
            <a:avLst/>
          </a:prstGeom>
          <a:noFill/>
        </p:spPr>
        <p:txBody>
          <a:bodyPr wrap="square">
            <a:spAutoFit/>
          </a:bodyPr>
          <a:lstStyle/>
          <a:p>
            <a:pPr algn="ctr">
              <a:defRPr sz="1300" b="1">
                <a:solidFill>
                  <a:srgbClr val="FFFFFF"/>
                </a:solidFill>
                <a:latin typeface="Calibri"/>
              </a:defRPr>
            </a:pPr>
            <a:r>
              <a:t>Budget: $450,000</a:t>
            </a:r>
          </a:p>
        </p:txBody>
      </p:sp>
      <p:sp>
        <p:nvSpPr>
          <p:cNvPr id="9" name="Rounded Rectangle 8"/>
          <p:cNvSpPr/>
          <p:nvPr/>
        </p:nvSpPr>
        <p:spPr>
          <a:xfrm>
            <a:off x="2926080" y="1554480"/>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627632"/>
            <a:ext cx="2286000" cy="292388"/>
          </a:xfrm>
          <a:prstGeom prst="rect">
            <a:avLst/>
          </a:prstGeom>
          <a:noFill/>
        </p:spPr>
        <p:txBody>
          <a:bodyPr wrap="square">
            <a:spAutoFit/>
          </a:bodyPr>
          <a:lstStyle/>
          <a:p>
            <a:pPr algn="ctr">
              <a:defRPr sz="1300" b="1">
                <a:solidFill>
                  <a:srgbClr val="FFFFFF"/>
                </a:solidFill>
                <a:latin typeface="Calibri"/>
              </a:defRPr>
            </a:pPr>
            <a:r>
              <a:rPr dirty="0"/>
              <a:t>Timeline: </a:t>
            </a:r>
            <a:r>
              <a:rPr lang="en-US" dirty="0"/>
              <a:t>8 Weeks</a:t>
            </a:r>
            <a:endParaRPr dirty="0"/>
          </a:p>
        </p:txBody>
      </p:sp>
      <p:sp>
        <p:nvSpPr>
          <p:cNvPr id="11" name="Rounded Rectangle 10"/>
          <p:cNvSpPr/>
          <p:nvPr/>
        </p:nvSpPr>
        <p:spPr>
          <a:xfrm>
            <a:off x="731520" y="2148840"/>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40280"/>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468880"/>
            <a:ext cx="10332720" cy="457200"/>
          </a:xfrm>
          <a:prstGeom prst="rect">
            <a:avLst/>
          </a:prstGeom>
          <a:noFill/>
        </p:spPr>
        <p:txBody>
          <a:bodyPr wrap="square">
            <a:spAutoFit/>
          </a:bodyPr>
          <a:lstStyle/>
          <a:p>
            <a:pPr algn="l">
              <a:defRPr sz="1400" b="0">
                <a:solidFill>
                  <a:srgbClr val="1A1A1A"/>
                </a:solidFill>
                <a:latin typeface="Calibri"/>
              </a:defRPr>
            </a:pPr>
            <a:r>
              <a:t>Develop an AI-assisted compliance tool to help organisations understand and operationalise applicable Nigerian data-protection requirements.</a:t>
            </a:r>
          </a:p>
        </p:txBody>
      </p:sp>
      <p:sp>
        <p:nvSpPr>
          <p:cNvPr id="14" name="Rounded Rectangle 13"/>
          <p:cNvSpPr/>
          <p:nvPr/>
        </p:nvSpPr>
        <p:spPr>
          <a:xfrm>
            <a:off x="73152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868680" y="3520440"/>
            <a:ext cx="3291840" cy="2560320"/>
          </a:xfrm>
          <a:prstGeom prst="rect">
            <a:avLst/>
          </a:prstGeom>
          <a:noFill/>
        </p:spPr>
        <p:txBody>
          <a:bodyPr wrap="square">
            <a:spAutoFit/>
          </a:bodyPr>
          <a:lstStyle/>
          <a:p>
            <a:pPr algn="l">
              <a:defRPr sz="1300" b="0">
                <a:solidFill>
                  <a:srgbClr val="1A1A1A"/>
                </a:solidFill>
                <a:latin typeface="Calibri"/>
              </a:defRPr>
            </a:pPr>
            <a:r>
              <a:t>Public institutions; businesses; DPO/privacy teams; legal/compliance professionals; SMEs; civil society and technology organisations.</a:t>
            </a:r>
          </a:p>
        </p:txBody>
      </p:sp>
      <p:sp>
        <p:nvSpPr>
          <p:cNvPr id="17" name="Rounded Rectangle 16"/>
          <p:cNvSpPr/>
          <p:nvPr/>
        </p:nvSpPr>
        <p:spPr>
          <a:xfrm>
            <a:off x="4480559"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3246120"/>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617720" y="3520440"/>
            <a:ext cx="3291840" cy="2560320"/>
          </a:xfrm>
          <a:prstGeom prst="rect">
            <a:avLst/>
          </a:prstGeom>
          <a:noFill/>
        </p:spPr>
        <p:txBody>
          <a:bodyPr wrap="square">
            <a:spAutoFit/>
          </a:bodyPr>
          <a:lstStyle/>
          <a:p>
            <a:pPr algn="l">
              <a:defRPr sz="1300" b="0">
                <a:solidFill>
                  <a:srgbClr val="1A1A1A"/>
                </a:solidFill>
                <a:latin typeface="Calibri"/>
              </a:defRPr>
            </a:pPr>
            <a:r>
              <a:t>• Knowledge base on NDPR/NDPA</a:t>
            </a:r>
            <a:br/>
            <a:r>
              <a:t>• Guided compliance workflows</a:t>
            </a:r>
            <a:br/>
            <a:r>
              <a:t>• Policy and document templates</a:t>
            </a:r>
            <a:br/>
            <a:r>
              <a:t>• Risk assessment support</a:t>
            </a:r>
            <a:br/>
            <a:r>
              <a:t>• Privacy task management</a:t>
            </a:r>
            <a:br/>
            <a:r>
              <a:t>• Human-review controls and governance</a:t>
            </a:r>
          </a:p>
        </p:txBody>
      </p:sp>
      <p:sp>
        <p:nvSpPr>
          <p:cNvPr id="20" name="Rounded Rectangle 19"/>
          <p:cNvSpPr/>
          <p:nvPr/>
        </p:nvSpPr>
        <p:spPr>
          <a:xfrm>
            <a:off x="822960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246120"/>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366760" y="3520440"/>
            <a:ext cx="3291840" cy="2560320"/>
          </a:xfrm>
          <a:prstGeom prst="rect">
            <a:avLst/>
          </a:prstGeom>
          <a:noFill/>
        </p:spPr>
        <p:txBody>
          <a:bodyPr wrap="square">
            <a:spAutoFit/>
          </a:bodyPr>
          <a:lstStyle/>
          <a:p>
            <a:pPr algn="l">
              <a:defRPr sz="1300" b="0">
                <a:solidFill>
                  <a:srgbClr val="1A1A1A"/>
                </a:solidFill>
                <a:latin typeface="Calibri"/>
              </a:defRPr>
            </a:pPr>
            <a:r>
              <a:t>• Pilot AI copilot operational</a:t>
            </a:r>
            <a:br/>
            <a:r>
              <a:t>• Compliance workflows digitised</a:t>
            </a:r>
            <a:br/>
            <a:r>
              <a:t>• Improved privacy awareness</a:t>
            </a:r>
            <a:br/>
            <a:r>
              <a:t>• Documented governance controls</a:t>
            </a:r>
            <a:br/>
            <a:r>
              <a:t>• Human-in-the-loop review model</a:t>
            </a:r>
            <a:br/>
            <a:r>
              <a:t>• Reusable compliance resources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08</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Edo State Service Portal</a:t>
            </a:r>
          </a:p>
        </p:txBody>
      </p:sp>
      <p:sp>
        <p:nvSpPr>
          <p:cNvPr id="7" name="Rounded Rectangle 6"/>
          <p:cNvSpPr/>
          <p:nvPr/>
        </p:nvSpPr>
        <p:spPr>
          <a:xfrm>
            <a:off x="731520" y="1554480"/>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2011680" cy="274320"/>
          </a:xfrm>
          <a:prstGeom prst="rect">
            <a:avLst/>
          </a:prstGeom>
          <a:noFill/>
        </p:spPr>
        <p:txBody>
          <a:bodyPr wrap="square">
            <a:spAutoFit/>
          </a:bodyPr>
          <a:lstStyle/>
          <a:p>
            <a:pPr algn="ctr">
              <a:defRPr sz="1300" b="1">
                <a:solidFill>
                  <a:srgbClr val="FFFFFF"/>
                </a:solidFill>
                <a:latin typeface="Calibri"/>
              </a:defRPr>
            </a:pPr>
            <a:r>
              <a:t>Budget: $600,000</a:t>
            </a:r>
          </a:p>
        </p:txBody>
      </p:sp>
      <p:sp>
        <p:nvSpPr>
          <p:cNvPr id="9" name="Rounded Rectangle 8"/>
          <p:cNvSpPr/>
          <p:nvPr/>
        </p:nvSpPr>
        <p:spPr>
          <a:xfrm>
            <a:off x="2926080" y="1554480"/>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627632"/>
            <a:ext cx="2286000" cy="292388"/>
          </a:xfrm>
          <a:prstGeom prst="rect">
            <a:avLst/>
          </a:prstGeom>
          <a:noFill/>
        </p:spPr>
        <p:txBody>
          <a:bodyPr wrap="square">
            <a:spAutoFit/>
          </a:bodyPr>
          <a:lstStyle/>
          <a:p>
            <a:pPr algn="ctr">
              <a:defRPr sz="1300" b="1">
                <a:solidFill>
                  <a:srgbClr val="FFFFFF"/>
                </a:solidFill>
                <a:latin typeface="Calibri"/>
              </a:defRPr>
            </a:pPr>
            <a:r>
              <a:rPr dirty="0"/>
              <a:t>Timeline</a:t>
            </a:r>
            <a:r>
              <a:rPr lang="en-US" dirty="0"/>
              <a:t> 8 Weeks</a:t>
            </a:r>
            <a:endParaRPr dirty="0"/>
          </a:p>
        </p:txBody>
      </p:sp>
      <p:sp>
        <p:nvSpPr>
          <p:cNvPr id="11" name="Rounded Rectangle 10"/>
          <p:cNvSpPr/>
          <p:nvPr/>
        </p:nvSpPr>
        <p:spPr>
          <a:xfrm>
            <a:off x="731520" y="2148840"/>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40280"/>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468880"/>
            <a:ext cx="10332720" cy="457200"/>
          </a:xfrm>
          <a:prstGeom prst="rect">
            <a:avLst/>
          </a:prstGeom>
          <a:noFill/>
        </p:spPr>
        <p:txBody>
          <a:bodyPr wrap="square">
            <a:spAutoFit/>
          </a:bodyPr>
          <a:lstStyle/>
          <a:p>
            <a:pPr algn="l">
              <a:defRPr sz="1400" b="0">
                <a:solidFill>
                  <a:srgbClr val="1A1A1A"/>
                </a:solidFill>
                <a:latin typeface="Calibri"/>
              </a:defRPr>
            </a:pPr>
            <a:r>
              <a:t>Provide a unified digital gateway for accessing government services, applications, requests, tracking, notifications and service information.</a:t>
            </a:r>
          </a:p>
        </p:txBody>
      </p:sp>
      <p:sp>
        <p:nvSpPr>
          <p:cNvPr id="14" name="Rounded Rectangle 13"/>
          <p:cNvSpPr/>
          <p:nvPr/>
        </p:nvSpPr>
        <p:spPr>
          <a:xfrm>
            <a:off x="73152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868680" y="3520440"/>
            <a:ext cx="3291840" cy="2560320"/>
          </a:xfrm>
          <a:prstGeom prst="rect">
            <a:avLst/>
          </a:prstGeom>
          <a:noFill/>
        </p:spPr>
        <p:txBody>
          <a:bodyPr wrap="square">
            <a:spAutoFit/>
          </a:bodyPr>
          <a:lstStyle/>
          <a:p>
            <a:pPr algn="l">
              <a:defRPr sz="1300" b="0">
                <a:solidFill>
                  <a:srgbClr val="1A1A1A"/>
                </a:solidFill>
                <a:latin typeface="Calibri"/>
              </a:defRPr>
            </a:pPr>
            <a:r>
              <a:t>Citizens; businesses; government staff; public institutions; service providers; development partners.</a:t>
            </a:r>
          </a:p>
        </p:txBody>
      </p:sp>
      <p:sp>
        <p:nvSpPr>
          <p:cNvPr id="17" name="Rounded Rectangle 16"/>
          <p:cNvSpPr/>
          <p:nvPr/>
        </p:nvSpPr>
        <p:spPr>
          <a:xfrm>
            <a:off x="4480559"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3246120"/>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617720" y="3520440"/>
            <a:ext cx="3291840" cy="2560320"/>
          </a:xfrm>
          <a:prstGeom prst="rect">
            <a:avLst/>
          </a:prstGeom>
          <a:noFill/>
        </p:spPr>
        <p:txBody>
          <a:bodyPr wrap="square">
            <a:spAutoFit/>
          </a:bodyPr>
          <a:lstStyle/>
          <a:p>
            <a:pPr algn="l">
              <a:defRPr sz="1300" b="0">
                <a:solidFill>
                  <a:srgbClr val="1A1A1A"/>
                </a:solidFill>
                <a:latin typeface="Calibri"/>
              </a:defRPr>
            </a:pPr>
            <a:r>
              <a:t>• Service catalogue and citizen portal</a:t>
            </a:r>
            <a:br/>
            <a:r>
              <a:t>• Application and tracking workflows</a:t>
            </a:r>
            <a:br/>
            <a:r>
              <a:t>• Notifications system</a:t>
            </a:r>
            <a:br/>
            <a:r>
              <a:t>• Identity/access integration</a:t>
            </a:r>
            <a:br/>
            <a:r>
              <a:t>• Administrative dashboard and analytics</a:t>
            </a:r>
            <a:br/>
            <a:r>
              <a:t>• Accessibility and security testing</a:t>
            </a:r>
          </a:p>
        </p:txBody>
      </p:sp>
      <p:sp>
        <p:nvSpPr>
          <p:cNvPr id="20" name="Rounded Rectangle 19"/>
          <p:cNvSpPr/>
          <p:nvPr/>
        </p:nvSpPr>
        <p:spPr>
          <a:xfrm>
            <a:off x="822960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246120"/>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366760" y="3520440"/>
            <a:ext cx="3291840" cy="2560320"/>
          </a:xfrm>
          <a:prstGeom prst="rect">
            <a:avLst/>
          </a:prstGeom>
          <a:noFill/>
        </p:spPr>
        <p:txBody>
          <a:bodyPr wrap="square">
            <a:spAutoFit/>
          </a:bodyPr>
          <a:lstStyle/>
          <a:p>
            <a:pPr algn="l">
              <a:defRPr sz="1300" b="0">
                <a:solidFill>
                  <a:srgbClr val="1A1A1A"/>
                </a:solidFill>
                <a:latin typeface="Calibri"/>
              </a:defRPr>
            </a:pPr>
            <a:r>
              <a:t>• Priority services available online</a:t>
            </a:r>
            <a:br/>
            <a:r>
              <a:t>• Reduced physical/manual transactions</a:t>
            </a:r>
            <a:br/>
            <a:r>
              <a:t>• Improved service tracking and transparency</a:t>
            </a:r>
            <a:br/>
            <a:r>
              <a:t>• Service-performance analytics</a:t>
            </a:r>
            <a:br/>
            <a:r>
              <a:t>• Scalable government digital-service platform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09</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Traditional Stool Management System</a:t>
            </a:r>
          </a:p>
        </p:txBody>
      </p:sp>
      <p:sp>
        <p:nvSpPr>
          <p:cNvPr id="7" name="Rounded Rectangle 6"/>
          <p:cNvSpPr/>
          <p:nvPr/>
        </p:nvSpPr>
        <p:spPr>
          <a:xfrm>
            <a:off x="731520" y="1554480"/>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2011680" cy="274320"/>
          </a:xfrm>
          <a:prstGeom prst="rect">
            <a:avLst/>
          </a:prstGeom>
          <a:noFill/>
        </p:spPr>
        <p:txBody>
          <a:bodyPr wrap="square">
            <a:spAutoFit/>
          </a:bodyPr>
          <a:lstStyle/>
          <a:p>
            <a:pPr algn="ctr">
              <a:defRPr sz="1300" b="1">
                <a:solidFill>
                  <a:srgbClr val="FFFFFF"/>
                </a:solidFill>
                <a:latin typeface="Calibri"/>
              </a:defRPr>
            </a:pPr>
            <a:r>
              <a:t>Budget: $300,000</a:t>
            </a:r>
          </a:p>
        </p:txBody>
      </p:sp>
      <p:sp>
        <p:nvSpPr>
          <p:cNvPr id="9" name="Rounded Rectangle 8"/>
          <p:cNvSpPr/>
          <p:nvPr/>
        </p:nvSpPr>
        <p:spPr>
          <a:xfrm>
            <a:off x="2926080" y="1554480"/>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627632"/>
            <a:ext cx="2286000" cy="292388"/>
          </a:xfrm>
          <a:prstGeom prst="rect">
            <a:avLst/>
          </a:prstGeom>
          <a:noFill/>
        </p:spPr>
        <p:txBody>
          <a:bodyPr wrap="square">
            <a:spAutoFit/>
          </a:bodyPr>
          <a:lstStyle/>
          <a:p>
            <a:pPr algn="ctr">
              <a:defRPr sz="1300" b="1">
                <a:solidFill>
                  <a:srgbClr val="FFFFFF"/>
                </a:solidFill>
                <a:latin typeface="Calibri"/>
              </a:defRPr>
            </a:pPr>
            <a:r>
              <a:rPr dirty="0"/>
              <a:t>Timeline: </a:t>
            </a:r>
            <a:r>
              <a:rPr lang="en-US" dirty="0"/>
              <a:t>8 Weeks</a:t>
            </a:r>
            <a:endParaRPr dirty="0"/>
          </a:p>
        </p:txBody>
      </p:sp>
      <p:sp>
        <p:nvSpPr>
          <p:cNvPr id="11" name="Rounded Rectangle 10"/>
          <p:cNvSpPr/>
          <p:nvPr/>
        </p:nvSpPr>
        <p:spPr>
          <a:xfrm>
            <a:off x="731520" y="2148840"/>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40280"/>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468880"/>
            <a:ext cx="10332720" cy="457200"/>
          </a:xfrm>
          <a:prstGeom prst="rect">
            <a:avLst/>
          </a:prstGeom>
          <a:noFill/>
        </p:spPr>
        <p:txBody>
          <a:bodyPr wrap="square">
            <a:spAutoFit/>
          </a:bodyPr>
          <a:lstStyle/>
          <a:p>
            <a:pPr algn="l">
              <a:defRPr sz="1400" b="0">
                <a:solidFill>
                  <a:srgbClr val="1A1A1A"/>
                </a:solidFill>
                <a:latin typeface="Calibri"/>
              </a:defRPr>
            </a:pPr>
            <a:r>
              <a:t>Digitally document and manage information relating to traditional institutions, stools/titles, succession records, history, recognition, administration and community information.</a:t>
            </a:r>
          </a:p>
        </p:txBody>
      </p:sp>
      <p:sp>
        <p:nvSpPr>
          <p:cNvPr id="14" name="Rounded Rectangle 13"/>
          <p:cNvSpPr/>
          <p:nvPr/>
        </p:nvSpPr>
        <p:spPr>
          <a:xfrm>
            <a:off x="73152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868680" y="3520440"/>
            <a:ext cx="3291840" cy="2560320"/>
          </a:xfrm>
          <a:prstGeom prst="rect">
            <a:avLst/>
          </a:prstGeom>
          <a:noFill/>
        </p:spPr>
        <p:txBody>
          <a:bodyPr wrap="square">
            <a:spAutoFit/>
          </a:bodyPr>
          <a:lstStyle/>
          <a:p>
            <a:pPr algn="l">
              <a:defRPr sz="1300" b="0">
                <a:solidFill>
                  <a:srgbClr val="1A1A1A"/>
                </a:solidFill>
                <a:latin typeface="Calibri"/>
              </a:defRPr>
            </a:pPr>
            <a:r>
              <a:t>Traditional institutions; communities; cultural authorities; government cultural/administrative bodies; researchers; historians; future generations.</a:t>
            </a:r>
          </a:p>
        </p:txBody>
      </p:sp>
      <p:sp>
        <p:nvSpPr>
          <p:cNvPr id="17" name="Rounded Rectangle 16"/>
          <p:cNvSpPr/>
          <p:nvPr/>
        </p:nvSpPr>
        <p:spPr>
          <a:xfrm>
            <a:off x="4480559"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3246120"/>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617720" y="3520440"/>
            <a:ext cx="3291840" cy="2560320"/>
          </a:xfrm>
          <a:prstGeom prst="rect">
            <a:avLst/>
          </a:prstGeom>
          <a:noFill/>
        </p:spPr>
        <p:txBody>
          <a:bodyPr wrap="square">
            <a:spAutoFit/>
          </a:bodyPr>
          <a:lstStyle/>
          <a:p>
            <a:pPr algn="l">
              <a:defRPr sz="1300" b="0">
                <a:solidFill>
                  <a:srgbClr val="1A1A1A"/>
                </a:solidFill>
                <a:latin typeface="Calibri"/>
              </a:defRPr>
            </a:pPr>
            <a:r>
              <a:t>• Data model and registry</a:t>
            </a:r>
            <a:br/>
            <a:r>
              <a:t>• Historical records module</a:t>
            </a:r>
            <a:br/>
            <a:r>
              <a:t>• Succession and documentation workflows</a:t>
            </a:r>
            <a:br/>
            <a:r>
              <a:t>• Controlled access and search</a:t>
            </a:r>
            <a:br/>
            <a:r>
              <a:t>• Preservation strategy</a:t>
            </a:r>
            <a:br/>
            <a:r>
              <a:t>• Training and governance framework</a:t>
            </a:r>
          </a:p>
        </p:txBody>
      </p:sp>
      <p:sp>
        <p:nvSpPr>
          <p:cNvPr id="20" name="Rounded Rectangle 19"/>
          <p:cNvSpPr/>
          <p:nvPr/>
        </p:nvSpPr>
        <p:spPr>
          <a:xfrm>
            <a:off x="822960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246120"/>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366760" y="3520440"/>
            <a:ext cx="3291840" cy="2560320"/>
          </a:xfrm>
          <a:prstGeom prst="rect">
            <a:avLst/>
          </a:prstGeom>
          <a:noFill/>
        </p:spPr>
        <p:txBody>
          <a:bodyPr wrap="square">
            <a:spAutoFit/>
          </a:bodyPr>
          <a:lstStyle/>
          <a:p>
            <a:pPr algn="l">
              <a:defRPr sz="1300" b="0">
                <a:solidFill>
                  <a:srgbClr val="1A1A1A"/>
                </a:solidFill>
                <a:latin typeface="Calibri"/>
              </a:defRPr>
            </a:pPr>
            <a:r>
              <a:t>• Structured digital registry</a:t>
            </a:r>
            <a:br/>
            <a:r>
              <a:t>• Improved preservation and retrieval</a:t>
            </a:r>
            <a:br/>
            <a:r>
              <a:t>• Stronger institutional documentation</a:t>
            </a:r>
            <a:br/>
            <a:r>
              <a:t>• Controlled access and governance</a:t>
            </a:r>
            <a:br/>
            <a:r>
              <a:t>• Foundation for cultural knowledge preservation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1400" b="1">
                <a:solidFill>
                  <a:srgbClr val="555555"/>
                </a:solidFill>
                <a:latin typeface="Calibri"/>
              </a:defRPr>
            </a:pPr>
            <a:r>
              <a:t>PROJECT 10</a:t>
            </a:r>
          </a:p>
        </p:txBody>
      </p:sp>
      <p:sp>
        <p:nvSpPr>
          <p:cNvPr id="6" name="TextBox 5"/>
          <p:cNvSpPr txBox="1"/>
          <p:nvPr/>
        </p:nvSpPr>
        <p:spPr>
          <a:xfrm>
            <a:off x="731520" y="1051560"/>
            <a:ext cx="9144000" cy="457200"/>
          </a:xfrm>
          <a:prstGeom prst="rect">
            <a:avLst/>
          </a:prstGeom>
          <a:noFill/>
        </p:spPr>
        <p:txBody>
          <a:bodyPr wrap="square">
            <a:spAutoFit/>
          </a:bodyPr>
          <a:lstStyle/>
          <a:p>
            <a:pPr algn="l">
              <a:defRPr sz="2800" b="1">
                <a:solidFill>
                  <a:srgbClr val="0D1B2A"/>
                </a:solidFill>
                <a:latin typeface="Calibri"/>
              </a:defRPr>
            </a:pPr>
            <a:r>
              <a:t>Digital Market Square (E-Commerce Hub)</a:t>
            </a:r>
          </a:p>
        </p:txBody>
      </p:sp>
      <p:sp>
        <p:nvSpPr>
          <p:cNvPr id="7" name="Rounded Rectangle 6"/>
          <p:cNvSpPr/>
          <p:nvPr/>
        </p:nvSpPr>
        <p:spPr>
          <a:xfrm>
            <a:off x="731520" y="1554480"/>
            <a:ext cx="2011680" cy="41148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27632"/>
            <a:ext cx="2011680" cy="274320"/>
          </a:xfrm>
          <a:prstGeom prst="rect">
            <a:avLst/>
          </a:prstGeom>
          <a:noFill/>
        </p:spPr>
        <p:txBody>
          <a:bodyPr wrap="square">
            <a:spAutoFit/>
          </a:bodyPr>
          <a:lstStyle/>
          <a:p>
            <a:pPr algn="ctr">
              <a:defRPr sz="1300" b="1">
                <a:solidFill>
                  <a:srgbClr val="FFFFFF"/>
                </a:solidFill>
                <a:latin typeface="Calibri"/>
              </a:defRPr>
            </a:pPr>
            <a:r>
              <a:t>Budget: $400,000</a:t>
            </a:r>
          </a:p>
        </p:txBody>
      </p:sp>
      <p:sp>
        <p:nvSpPr>
          <p:cNvPr id="9" name="Rounded Rectangle 8"/>
          <p:cNvSpPr/>
          <p:nvPr/>
        </p:nvSpPr>
        <p:spPr>
          <a:xfrm>
            <a:off x="2926080" y="1554480"/>
            <a:ext cx="228600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627632"/>
            <a:ext cx="2286000" cy="292388"/>
          </a:xfrm>
          <a:prstGeom prst="rect">
            <a:avLst/>
          </a:prstGeom>
          <a:noFill/>
        </p:spPr>
        <p:txBody>
          <a:bodyPr wrap="square">
            <a:spAutoFit/>
          </a:bodyPr>
          <a:lstStyle/>
          <a:p>
            <a:pPr algn="ctr">
              <a:defRPr sz="1300" b="1">
                <a:solidFill>
                  <a:srgbClr val="FFFFFF"/>
                </a:solidFill>
                <a:latin typeface="Calibri"/>
              </a:defRPr>
            </a:pPr>
            <a:r>
              <a:rPr dirty="0"/>
              <a:t>Timeline: </a:t>
            </a:r>
            <a:r>
              <a:rPr lang="en-US" dirty="0"/>
              <a:t>8 Weeks</a:t>
            </a:r>
            <a:endParaRPr dirty="0"/>
          </a:p>
        </p:txBody>
      </p:sp>
      <p:sp>
        <p:nvSpPr>
          <p:cNvPr id="11" name="Rounded Rectangle 10"/>
          <p:cNvSpPr/>
          <p:nvPr/>
        </p:nvSpPr>
        <p:spPr>
          <a:xfrm>
            <a:off x="731520" y="2148840"/>
            <a:ext cx="1069848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40280"/>
            <a:ext cx="10332720" cy="182880"/>
          </a:xfrm>
          <a:prstGeom prst="rect">
            <a:avLst/>
          </a:prstGeom>
          <a:noFill/>
        </p:spPr>
        <p:txBody>
          <a:bodyPr wrap="square">
            <a:spAutoFit/>
          </a:bodyPr>
          <a:lstStyle/>
          <a:p>
            <a:pPr algn="l">
              <a:defRPr sz="1200" b="1">
                <a:solidFill>
                  <a:srgbClr val="C9A227"/>
                </a:solidFill>
                <a:latin typeface="Calibri"/>
              </a:defRPr>
            </a:pPr>
            <a:r>
              <a:t>OBJECTIVE</a:t>
            </a:r>
          </a:p>
        </p:txBody>
      </p:sp>
      <p:sp>
        <p:nvSpPr>
          <p:cNvPr id="13" name="TextBox 12"/>
          <p:cNvSpPr txBox="1"/>
          <p:nvPr/>
        </p:nvSpPr>
        <p:spPr>
          <a:xfrm>
            <a:off x="914400" y="2468880"/>
            <a:ext cx="10332720" cy="457200"/>
          </a:xfrm>
          <a:prstGeom prst="rect">
            <a:avLst/>
          </a:prstGeom>
          <a:noFill/>
        </p:spPr>
        <p:txBody>
          <a:bodyPr wrap="square">
            <a:spAutoFit/>
          </a:bodyPr>
          <a:lstStyle/>
          <a:p>
            <a:pPr algn="l">
              <a:defRPr sz="1400" b="0">
                <a:solidFill>
                  <a:srgbClr val="1A1A1A"/>
                </a:solidFill>
                <a:latin typeface="Calibri"/>
              </a:defRPr>
            </a:pPr>
            <a:r>
              <a:t>Develop a trusted digital marketplace enabling Edo State-based businesses, artisans, farmers, creative enterprises and MSMEs to promote and sell products and services online.</a:t>
            </a:r>
          </a:p>
        </p:txBody>
      </p:sp>
      <p:sp>
        <p:nvSpPr>
          <p:cNvPr id="14" name="Rounded Rectangle 13"/>
          <p:cNvSpPr/>
          <p:nvPr/>
        </p:nvSpPr>
        <p:spPr>
          <a:xfrm>
            <a:off x="73152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291840" cy="228600"/>
          </a:xfrm>
          <a:prstGeom prst="rect">
            <a:avLst/>
          </a:prstGeom>
          <a:noFill/>
        </p:spPr>
        <p:txBody>
          <a:bodyPr wrap="square">
            <a:spAutoFit/>
          </a:bodyPr>
          <a:lstStyle/>
          <a:p>
            <a:pPr algn="l">
              <a:defRPr sz="1200" b="1">
                <a:solidFill>
                  <a:srgbClr val="C9A227"/>
                </a:solidFill>
                <a:latin typeface="Calibri"/>
              </a:defRPr>
            </a:pPr>
            <a:r>
              <a:t>PRIMARY BENEFICIARIES</a:t>
            </a:r>
          </a:p>
        </p:txBody>
      </p:sp>
      <p:sp>
        <p:nvSpPr>
          <p:cNvPr id="16" name="TextBox 15"/>
          <p:cNvSpPr txBox="1"/>
          <p:nvPr/>
        </p:nvSpPr>
        <p:spPr>
          <a:xfrm>
            <a:off x="868680" y="3520440"/>
            <a:ext cx="3291840" cy="2560320"/>
          </a:xfrm>
          <a:prstGeom prst="rect">
            <a:avLst/>
          </a:prstGeom>
          <a:noFill/>
        </p:spPr>
        <p:txBody>
          <a:bodyPr wrap="square">
            <a:spAutoFit/>
          </a:bodyPr>
          <a:lstStyle/>
          <a:p>
            <a:pPr algn="l">
              <a:defRPr sz="1300" b="0">
                <a:solidFill>
                  <a:srgbClr val="1A1A1A"/>
                </a:solidFill>
                <a:latin typeface="Calibri"/>
              </a:defRPr>
            </a:pPr>
            <a:r>
              <a:t>MSMEs; women and youth entrepreneurs; artisans; farmers and agro-processors; creative-sector businesses; cooperatives; consumers; logistics and payment partners.</a:t>
            </a:r>
          </a:p>
        </p:txBody>
      </p:sp>
      <p:sp>
        <p:nvSpPr>
          <p:cNvPr id="17" name="Rounded Rectangle 16"/>
          <p:cNvSpPr/>
          <p:nvPr/>
        </p:nvSpPr>
        <p:spPr>
          <a:xfrm>
            <a:off x="4480559"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3246120"/>
            <a:ext cx="3291840" cy="228600"/>
          </a:xfrm>
          <a:prstGeom prst="rect">
            <a:avLst/>
          </a:prstGeom>
          <a:noFill/>
        </p:spPr>
        <p:txBody>
          <a:bodyPr wrap="square">
            <a:spAutoFit/>
          </a:bodyPr>
          <a:lstStyle/>
          <a:p>
            <a:pPr algn="l">
              <a:defRPr sz="1200" b="1">
                <a:solidFill>
                  <a:srgbClr val="C9A227"/>
                </a:solidFill>
                <a:latin typeface="Calibri"/>
              </a:defRPr>
            </a:pPr>
            <a:r>
              <a:t>KEY DELIVERABLES</a:t>
            </a:r>
          </a:p>
        </p:txBody>
      </p:sp>
      <p:sp>
        <p:nvSpPr>
          <p:cNvPr id="19" name="TextBox 18"/>
          <p:cNvSpPr txBox="1"/>
          <p:nvPr/>
        </p:nvSpPr>
        <p:spPr>
          <a:xfrm>
            <a:off x="4617720" y="3520440"/>
            <a:ext cx="3291840" cy="2560320"/>
          </a:xfrm>
          <a:prstGeom prst="rect">
            <a:avLst/>
          </a:prstGeom>
          <a:noFill/>
        </p:spPr>
        <p:txBody>
          <a:bodyPr wrap="square">
            <a:spAutoFit/>
          </a:bodyPr>
          <a:lstStyle/>
          <a:p>
            <a:pPr algn="l">
              <a:defRPr sz="1300" b="0">
                <a:solidFill>
                  <a:srgbClr val="1A1A1A"/>
                </a:solidFill>
                <a:latin typeface="Calibri"/>
              </a:defRPr>
            </a:pPr>
            <a:r>
              <a:t>• E-commerce marketplace platform</a:t>
            </a:r>
            <a:br/>
            <a:r>
              <a:t>• Vendor onboarding and verification</a:t>
            </a:r>
            <a:br/>
            <a:r>
              <a:t>• Product/service catalogue</a:t>
            </a:r>
            <a:br/>
            <a:r>
              <a:t>• Merchant dashboards and order management</a:t>
            </a:r>
            <a:br/>
            <a:r>
              <a:t>• Secure payment integration</a:t>
            </a:r>
            <a:br/>
            <a:r>
              <a:t>• Delivery/logistics workflows and analytics</a:t>
            </a:r>
          </a:p>
        </p:txBody>
      </p:sp>
      <p:sp>
        <p:nvSpPr>
          <p:cNvPr id="20" name="Rounded Rectangle 19"/>
          <p:cNvSpPr/>
          <p:nvPr/>
        </p:nvSpPr>
        <p:spPr>
          <a:xfrm>
            <a:off x="8229600" y="3154680"/>
            <a:ext cx="3566160" cy="301752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246120"/>
            <a:ext cx="3291840" cy="228600"/>
          </a:xfrm>
          <a:prstGeom prst="rect">
            <a:avLst/>
          </a:prstGeom>
          <a:noFill/>
        </p:spPr>
        <p:txBody>
          <a:bodyPr wrap="square">
            <a:spAutoFit/>
          </a:bodyPr>
          <a:lstStyle/>
          <a:p>
            <a:pPr algn="l">
              <a:defRPr sz="1200" b="1">
                <a:solidFill>
                  <a:srgbClr val="C9A227"/>
                </a:solidFill>
                <a:latin typeface="Calibri"/>
              </a:defRPr>
            </a:pPr>
            <a:r>
              <a:t>EXPECTED OUTCOMES</a:t>
            </a:r>
          </a:p>
        </p:txBody>
      </p:sp>
      <p:sp>
        <p:nvSpPr>
          <p:cNvPr id="22" name="TextBox 21"/>
          <p:cNvSpPr txBox="1"/>
          <p:nvPr/>
        </p:nvSpPr>
        <p:spPr>
          <a:xfrm>
            <a:off x="8366760" y="3520440"/>
            <a:ext cx="3291840" cy="2560320"/>
          </a:xfrm>
          <a:prstGeom prst="rect">
            <a:avLst/>
          </a:prstGeom>
          <a:noFill/>
        </p:spPr>
        <p:txBody>
          <a:bodyPr wrap="square">
            <a:spAutoFit/>
          </a:bodyPr>
          <a:lstStyle/>
          <a:p>
            <a:pPr algn="l">
              <a:defRPr sz="1300" b="0">
                <a:solidFill>
                  <a:srgbClr val="1A1A1A"/>
                </a:solidFill>
                <a:latin typeface="Calibri"/>
              </a:defRPr>
            </a:pPr>
            <a:r>
              <a:t>• 1,000+ businesses onboarded</a:t>
            </a:r>
            <a:br/>
            <a:r>
              <a:t>• Increased online visibility and market access</a:t>
            </a:r>
            <a:br/>
            <a:r>
              <a:t>• New digital-sales opportunities for women and youth</a:t>
            </a:r>
            <a:br/>
            <a:r>
              <a:t>• Improved digital entrepreneurship skills</a:t>
            </a:r>
            <a:br/>
            <a:r>
              <a:t>• Sustainable state-level digital marketplace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 y="-141316"/>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3200" b="1">
                <a:solidFill>
                  <a:srgbClr val="0D1B2A"/>
                </a:solidFill>
                <a:latin typeface="Calibri"/>
              </a:defRPr>
            </a:pPr>
            <a:r>
              <a:t>BUDGET OVERVIEW</a:t>
            </a:r>
          </a:p>
        </p:txBody>
      </p:sp>
      <p:pic>
        <p:nvPicPr>
          <p:cNvPr id="6" name="Picture 5" descr="budget_chart.png"/>
          <p:cNvPicPr>
            <a:picLocks noChangeAspect="1"/>
          </p:cNvPicPr>
          <p:nvPr/>
        </p:nvPicPr>
        <p:blipFill>
          <a:blip r:embed="rId2"/>
          <a:stretch>
            <a:fillRect/>
          </a:stretch>
        </p:blipFill>
        <p:spPr>
          <a:xfrm>
            <a:off x="914400" y="1371600"/>
            <a:ext cx="10332720" cy="563602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3200" b="1">
                <a:solidFill>
                  <a:srgbClr val="0D1B2A"/>
                </a:solidFill>
                <a:latin typeface="Calibri"/>
              </a:defRPr>
            </a:pPr>
            <a:r>
              <a:t>PROGRAMME IMPLEMENTATION ARCHITECTURE</a:t>
            </a:r>
          </a:p>
        </p:txBody>
      </p:sp>
      <p:sp>
        <p:nvSpPr>
          <p:cNvPr id="6" name="Rounded Rectangle 5"/>
          <p:cNvSpPr/>
          <p:nvPr/>
        </p:nvSpPr>
        <p:spPr>
          <a:xfrm>
            <a:off x="731520" y="1371600"/>
            <a:ext cx="10698480" cy="77724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44752"/>
            <a:ext cx="10332720" cy="228600"/>
          </a:xfrm>
          <a:prstGeom prst="rect">
            <a:avLst/>
          </a:prstGeom>
          <a:noFill/>
        </p:spPr>
        <p:txBody>
          <a:bodyPr wrap="square">
            <a:spAutoFit/>
          </a:bodyPr>
          <a:lstStyle/>
          <a:p>
            <a:pPr algn="l">
              <a:defRPr sz="1400" b="1">
                <a:solidFill>
                  <a:srgbClr val="C9A227"/>
                </a:solidFill>
                <a:latin typeface="Calibri"/>
              </a:defRPr>
            </a:pPr>
            <a:r>
              <a:t>Lead Institution</a:t>
            </a:r>
          </a:p>
        </p:txBody>
      </p:sp>
      <p:sp>
        <p:nvSpPr>
          <p:cNvPr id="8" name="TextBox 7"/>
          <p:cNvSpPr txBox="1"/>
          <p:nvPr/>
        </p:nvSpPr>
        <p:spPr>
          <a:xfrm>
            <a:off x="914400" y="1691640"/>
            <a:ext cx="10332720" cy="411480"/>
          </a:xfrm>
          <a:prstGeom prst="rect">
            <a:avLst/>
          </a:prstGeom>
          <a:noFill/>
        </p:spPr>
        <p:txBody>
          <a:bodyPr wrap="square">
            <a:spAutoFit/>
          </a:bodyPr>
          <a:lstStyle/>
          <a:p>
            <a:pPr algn="l">
              <a:defRPr sz="1300" b="0">
                <a:solidFill>
                  <a:srgbClr val="FFFFFF"/>
                </a:solidFill>
                <a:latin typeface="Calibri"/>
              </a:defRPr>
            </a:pPr>
            <a:r>
              <a:t>Edo State Ministry of Communication and Digital Economy</a:t>
            </a:r>
          </a:p>
        </p:txBody>
      </p:sp>
      <p:sp>
        <p:nvSpPr>
          <p:cNvPr id="9" name="Rounded Rectangle 8"/>
          <p:cNvSpPr/>
          <p:nvPr/>
        </p:nvSpPr>
        <p:spPr>
          <a:xfrm>
            <a:off x="731520" y="2240280"/>
            <a:ext cx="10698480" cy="77724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313432"/>
            <a:ext cx="10332720" cy="228600"/>
          </a:xfrm>
          <a:prstGeom prst="rect">
            <a:avLst/>
          </a:prstGeom>
          <a:noFill/>
        </p:spPr>
        <p:txBody>
          <a:bodyPr wrap="square">
            <a:spAutoFit/>
          </a:bodyPr>
          <a:lstStyle/>
          <a:p>
            <a:pPr algn="l">
              <a:defRPr sz="1400" b="1">
                <a:solidFill>
                  <a:srgbClr val="C9A227"/>
                </a:solidFill>
                <a:latin typeface="Calibri"/>
              </a:defRPr>
            </a:pPr>
            <a:r>
              <a:t>Technical Implementation</a:t>
            </a:r>
          </a:p>
        </p:txBody>
      </p:sp>
      <p:sp>
        <p:nvSpPr>
          <p:cNvPr id="11" name="TextBox 10"/>
          <p:cNvSpPr txBox="1"/>
          <p:nvPr/>
        </p:nvSpPr>
        <p:spPr>
          <a:xfrm>
            <a:off x="914400" y="2560320"/>
            <a:ext cx="10332720" cy="411480"/>
          </a:xfrm>
          <a:prstGeom prst="rect">
            <a:avLst/>
          </a:prstGeom>
          <a:noFill/>
        </p:spPr>
        <p:txBody>
          <a:bodyPr wrap="square">
            <a:spAutoFit/>
          </a:bodyPr>
          <a:lstStyle/>
          <a:p>
            <a:pPr algn="l">
              <a:defRPr sz="1300" b="0">
                <a:solidFill>
                  <a:srgbClr val="FFFFFF"/>
                </a:solidFill>
                <a:latin typeface="Calibri"/>
              </a:defRPr>
            </a:pPr>
            <a:r>
              <a:t>Ministry technical teams, qualified local developers, trainers and approved specialist partners where required</a:t>
            </a:r>
          </a:p>
        </p:txBody>
      </p:sp>
      <p:sp>
        <p:nvSpPr>
          <p:cNvPr id="12" name="Rounded Rectangle 11"/>
          <p:cNvSpPr/>
          <p:nvPr/>
        </p:nvSpPr>
        <p:spPr>
          <a:xfrm>
            <a:off x="731520" y="3108960"/>
            <a:ext cx="10698480" cy="77724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182112"/>
            <a:ext cx="10332720" cy="228600"/>
          </a:xfrm>
          <a:prstGeom prst="rect">
            <a:avLst/>
          </a:prstGeom>
          <a:noFill/>
        </p:spPr>
        <p:txBody>
          <a:bodyPr wrap="square">
            <a:spAutoFit/>
          </a:bodyPr>
          <a:lstStyle/>
          <a:p>
            <a:pPr algn="l">
              <a:defRPr sz="1400" b="1">
                <a:solidFill>
                  <a:srgbClr val="C9A227"/>
                </a:solidFill>
                <a:latin typeface="Calibri"/>
              </a:defRPr>
            </a:pPr>
            <a:r>
              <a:t>Strategic Coordination</a:t>
            </a:r>
          </a:p>
        </p:txBody>
      </p:sp>
      <p:sp>
        <p:nvSpPr>
          <p:cNvPr id="14" name="TextBox 13"/>
          <p:cNvSpPr txBox="1"/>
          <p:nvPr/>
        </p:nvSpPr>
        <p:spPr>
          <a:xfrm>
            <a:off x="914400" y="3429000"/>
            <a:ext cx="10332720" cy="411480"/>
          </a:xfrm>
          <a:prstGeom prst="rect">
            <a:avLst/>
          </a:prstGeom>
          <a:noFill/>
        </p:spPr>
        <p:txBody>
          <a:bodyPr wrap="square">
            <a:spAutoFit/>
          </a:bodyPr>
          <a:lstStyle/>
          <a:p>
            <a:pPr algn="l">
              <a:defRPr sz="1300" b="0">
                <a:solidFill>
                  <a:srgbClr val="FFFFFF"/>
                </a:solidFill>
                <a:latin typeface="Calibri"/>
              </a:defRPr>
            </a:pPr>
            <a:r>
              <a:t>Inter-ministerial and agency steering arrangement covering education, environment, public service, culture, data governance and other relevant sectors</a:t>
            </a:r>
          </a:p>
        </p:txBody>
      </p:sp>
      <p:sp>
        <p:nvSpPr>
          <p:cNvPr id="15" name="Rounded Rectangle 14"/>
          <p:cNvSpPr/>
          <p:nvPr/>
        </p:nvSpPr>
        <p:spPr>
          <a:xfrm>
            <a:off x="731520" y="3977639"/>
            <a:ext cx="10698480" cy="77724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050791"/>
            <a:ext cx="10332720" cy="228600"/>
          </a:xfrm>
          <a:prstGeom prst="rect">
            <a:avLst/>
          </a:prstGeom>
          <a:noFill/>
        </p:spPr>
        <p:txBody>
          <a:bodyPr wrap="square">
            <a:spAutoFit/>
          </a:bodyPr>
          <a:lstStyle/>
          <a:p>
            <a:pPr algn="l">
              <a:defRPr sz="1400" b="1">
                <a:solidFill>
                  <a:srgbClr val="C9A227"/>
                </a:solidFill>
                <a:latin typeface="Calibri"/>
              </a:defRPr>
            </a:pPr>
            <a:r>
              <a:t>UNESCO Collaboration</a:t>
            </a:r>
          </a:p>
        </p:txBody>
      </p:sp>
      <p:sp>
        <p:nvSpPr>
          <p:cNvPr id="17" name="TextBox 16"/>
          <p:cNvSpPr txBox="1"/>
          <p:nvPr/>
        </p:nvSpPr>
        <p:spPr>
          <a:xfrm>
            <a:off x="914400" y="4297679"/>
            <a:ext cx="10332720" cy="292388"/>
          </a:xfrm>
          <a:prstGeom prst="rect">
            <a:avLst/>
          </a:prstGeom>
          <a:noFill/>
        </p:spPr>
        <p:txBody>
          <a:bodyPr wrap="square">
            <a:spAutoFit/>
          </a:bodyPr>
          <a:lstStyle/>
          <a:p>
            <a:pPr algn="l">
              <a:defRPr sz="1300" b="0">
                <a:solidFill>
                  <a:srgbClr val="FFFFFF"/>
                </a:solidFill>
                <a:latin typeface="Calibri"/>
              </a:defRPr>
            </a:pPr>
            <a:r>
              <a:rPr dirty="0"/>
              <a:t>Technical dialogue, capacity-building support, knowledge exchange, standards/guidance, financing and independent technical engagement</a:t>
            </a:r>
          </a:p>
        </p:txBody>
      </p:sp>
      <p:sp>
        <p:nvSpPr>
          <p:cNvPr id="18" name="Rounded Rectangle 17"/>
          <p:cNvSpPr/>
          <p:nvPr/>
        </p:nvSpPr>
        <p:spPr>
          <a:xfrm>
            <a:off x="731520" y="4846320"/>
            <a:ext cx="10698480" cy="77724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919472"/>
            <a:ext cx="10332720" cy="228600"/>
          </a:xfrm>
          <a:prstGeom prst="rect">
            <a:avLst/>
          </a:prstGeom>
          <a:noFill/>
        </p:spPr>
        <p:txBody>
          <a:bodyPr wrap="square">
            <a:spAutoFit/>
          </a:bodyPr>
          <a:lstStyle/>
          <a:p>
            <a:pPr algn="l">
              <a:defRPr sz="1400" b="1">
                <a:solidFill>
                  <a:srgbClr val="C9A227"/>
                </a:solidFill>
                <a:latin typeface="Calibri"/>
              </a:defRPr>
            </a:pPr>
            <a:r>
              <a:t>User Participation</a:t>
            </a:r>
          </a:p>
        </p:txBody>
      </p:sp>
      <p:sp>
        <p:nvSpPr>
          <p:cNvPr id="20" name="TextBox 19"/>
          <p:cNvSpPr txBox="1"/>
          <p:nvPr/>
        </p:nvSpPr>
        <p:spPr>
          <a:xfrm>
            <a:off x="914400" y="5166359"/>
            <a:ext cx="10332720" cy="411480"/>
          </a:xfrm>
          <a:prstGeom prst="rect">
            <a:avLst/>
          </a:prstGeom>
          <a:noFill/>
        </p:spPr>
        <p:txBody>
          <a:bodyPr wrap="square">
            <a:spAutoFit/>
          </a:bodyPr>
          <a:lstStyle/>
          <a:p>
            <a:pPr algn="l">
              <a:defRPr sz="1300" b="0">
                <a:solidFill>
                  <a:srgbClr val="FFFFFF"/>
                </a:solidFill>
                <a:latin typeface="Calibri"/>
              </a:defRPr>
            </a:pPr>
            <a:r>
              <a:t>Structured consultations with intended users and beneficiary institutions before each production deployment</a:t>
            </a:r>
          </a:p>
        </p:txBody>
      </p:sp>
      <p:sp>
        <p:nvSpPr>
          <p:cNvPr id="21" name="Rounded Rectangle 20"/>
          <p:cNvSpPr/>
          <p:nvPr/>
        </p:nvSpPr>
        <p:spPr>
          <a:xfrm>
            <a:off x="731520" y="5715000"/>
            <a:ext cx="10698480" cy="77724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788152"/>
            <a:ext cx="10332720" cy="228600"/>
          </a:xfrm>
          <a:prstGeom prst="rect">
            <a:avLst/>
          </a:prstGeom>
          <a:noFill/>
        </p:spPr>
        <p:txBody>
          <a:bodyPr wrap="square">
            <a:spAutoFit/>
          </a:bodyPr>
          <a:lstStyle/>
          <a:p>
            <a:pPr algn="l">
              <a:defRPr sz="1400" b="1">
                <a:solidFill>
                  <a:srgbClr val="C9A227"/>
                </a:solidFill>
                <a:latin typeface="Calibri"/>
              </a:defRPr>
            </a:pPr>
            <a:r>
              <a:t>Assurance</a:t>
            </a:r>
          </a:p>
        </p:txBody>
      </p:sp>
      <p:sp>
        <p:nvSpPr>
          <p:cNvPr id="23" name="TextBox 22"/>
          <p:cNvSpPr txBox="1"/>
          <p:nvPr/>
        </p:nvSpPr>
        <p:spPr>
          <a:xfrm>
            <a:off x="914400" y="6035040"/>
            <a:ext cx="10332720" cy="411480"/>
          </a:xfrm>
          <a:prstGeom prst="rect">
            <a:avLst/>
          </a:prstGeom>
          <a:noFill/>
        </p:spPr>
        <p:txBody>
          <a:bodyPr wrap="square">
            <a:spAutoFit/>
          </a:bodyPr>
          <a:lstStyle/>
          <a:p>
            <a:pPr algn="l">
              <a:defRPr sz="1300" b="0">
                <a:solidFill>
                  <a:srgbClr val="FFFFFF"/>
                </a:solidFill>
                <a:latin typeface="Calibri"/>
              </a:defRPr>
            </a:pPr>
            <a:r>
              <a:t>Cybersecurity, privacy/data-protection, accessibility, quality assurance, audit trails, documentation and independent testing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584775"/>
          </a:xfrm>
          <a:prstGeom prst="rect">
            <a:avLst/>
          </a:prstGeom>
          <a:noFill/>
        </p:spPr>
        <p:txBody>
          <a:bodyPr wrap="square">
            <a:spAutoFit/>
          </a:bodyPr>
          <a:lstStyle/>
          <a:p>
            <a:pPr algn="l">
              <a:defRPr sz="3200" b="1">
                <a:solidFill>
                  <a:srgbClr val="0D1B2A"/>
                </a:solidFill>
                <a:latin typeface="Calibri"/>
              </a:defRPr>
            </a:pPr>
            <a:r>
              <a:rPr dirty="0"/>
              <a:t>36-</a:t>
            </a:r>
            <a:r>
              <a:rPr lang="en-US" dirty="0"/>
              <a:t>Weeks</a:t>
            </a:r>
            <a:r>
              <a:rPr dirty="0"/>
              <a:t> HIGH-LEVEL TIMELINE</a:t>
            </a:r>
          </a:p>
        </p:txBody>
      </p:sp>
      <p:sp>
        <p:nvSpPr>
          <p:cNvPr id="6" name="Rounded Rectangle 5"/>
          <p:cNvSpPr/>
          <p:nvPr/>
        </p:nvSpPr>
        <p:spPr>
          <a:xfrm>
            <a:off x="731520" y="1371600"/>
            <a:ext cx="10698480" cy="777240"/>
          </a:xfrm>
          <a:prstGeom prst="round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44752"/>
            <a:ext cx="10332720" cy="307777"/>
          </a:xfrm>
          <a:prstGeom prst="rect">
            <a:avLst/>
          </a:prstGeom>
          <a:noFill/>
        </p:spPr>
        <p:txBody>
          <a:bodyPr wrap="square">
            <a:spAutoFit/>
          </a:bodyPr>
          <a:lstStyle/>
          <a:p>
            <a:pPr algn="l">
              <a:defRPr sz="1400" b="1">
                <a:solidFill>
                  <a:srgbClr val="FFFFFF"/>
                </a:solidFill>
                <a:latin typeface="Calibri"/>
              </a:defRPr>
            </a:pPr>
            <a:r>
              <a:rPr dirty="0"/>
              <a:t>Phase 1: </a:t>
            </a:r>
            <a:r>
              <a:rPr lang="en-US" dirty="0"/>
              <a:t>Week</a:t>
            </a:r>
            <a:r>
              <a:rPr dirty="0"/>
              <a:t> 1–3</a:t>
            </a:r>
          </a:p>
        </p:txBody>
      </p:sp>
      <p:sp>
        <p:nvSpPr>
          <p:cNvPr id="8" name="TextBox 7"/>
          <p:cNvSpPr txBox="1"/>
          <p:nvPr/>
        </p:nvSpPr>
        <p:spPr>
          <a:xfrm>
            <a:off x="914400" y="1691640"/>
            <a:ext cx="10332720" cy="411480"/>
          </a:xfrm>
          <a:prstGeom prst="rect">
            <a:avLst/>
          </a:prstGeom>
          <a:noFill/>
        </p:spPr>
        <p:txBody>
          <a:bodyPr wrap="square">
            <a:spAutoFit/>
          </a:bodyPr>
          <a:lstStyle/>
          <a:p>
            <a:pPr algn="l">
              <a:defRPr sz="1300" b="0">
                <a:solidFill>
                  <a:srgbClr val="FFFFFF"/>
                </a:solidFill>
                <a:latin typeface="Calibri"/>
              </a:defRPr>
            </a:pPr>
            <a:r>
              <a:t>Programme mobilisation; baseline assessment; stakeholder consultations; detailed requirements; governance; procurement planning; training curriculum development.</a:t>
            </a:r>
          </a:p>
        </p:txBody>
      </p:sp>
      <p:sp>
        <p:nvSpPr>
          <p:cNvPr id="9" name="Rounded Rectangle 8"/>
          <p:cNvSpPr/>
          <p:nvPr/>
        </p:nvSpPr>
        <p:spPr>
          <a:xfrm>
            <a:off x="731520" y="2240280"/>
            <a:ext cx="10698480" cy="77724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313432"/>
            <a:ext cx="10332720" cy="307777"/>
          </a:xfrm>
          <a:prstGeom prst="rect">
            <a:avLst/>
          </a:prstGeom>
          <a:noFill/>
        </p:spPr>
        <p:txBody>
          <a:bodyPr wrap="square">
            <a:spAutoFit/>
          </a:bodyPr>
          <a:lstStyle/>
          <a:p>
            <a:pPr algn="l">
              <a:defRPr sz="1400" b="1">
                <a:solidFill>
                  <a:srgbClr val="FFFFFF"/>
                </a:solidFill>
                <a:latin typeface="Calibri"/>
              </a:defRPr>
            </a:pPr>
            <a:r>
              <a:rPr dirty="0"/>
              <a:t>Phase 2: </a:t>
            </a:r>
            <a:r>
              <a:rPr lang="en-US" dirty="0"/>
              <a:t>Week</a:t>
            </a:r>
            <a:r>
              <a:rPr dirty="0"/>
              <a:t> 4–9</a:t>
            </a:r>
          </a:p>
        </p:txBody>
      </p:sp>
      <p:sp>
        <p:nvSpPr>
          <p:cNvPr id="11" name="TextBox 10"/>
          <p:cNvSpPr txBox="1"/>
          <p:nvPr/>
        </p:nvSpPr>
        <p:spPr>
          <a:xfrm>
            <a:off x="914400" y="2560320"/>
            <a:ext cx="10332720" cy="411480"/>
          </a:xfrm>
          <a:prstGeom prst="rect">
            <a:avLst/>
          </a:prstGeom>
          <a:noFill/>
        </p:spPr>
        <p:txBody>
          <a:bodyPr wrap="square">
            <a:spAutoFit/>
          </a:bodyPr>
          <a:lstStyle/>
          <a:p>
            <a:pPr algn="l">
              <a:defRPr sz="1300" b="0">
                <a:solidFill>
                  <a:srgbClr val="FFFFFF"/>
                </a:solidFill>
                <a:latin typeface="Calibri"/>
              </a:defRPr>
            </a:pPr>
            <a:r>
              <a:t>Core training cohorts; system architecture and prototypes; data-governance/security design; initial education, waste and service-portal development.</a:t>
            </a:r>
          </a:p>
        </p:txBody>
      </p:sp>
      <p:sp>
        <p:nvSpPr>
          <p:cNvPr id="12" name="Rounded Rectangle 11"/>
          <p:cNvSpPr/>
          <p:nvPr/>
        </p:nvSpPr>
        <p:spPr>
          <a:xfrm>
            <a:off x="731520" y="3108960"/>
            <a:ext cx="10698480" cy="77724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182112"/>
            <a:ext cx="10332720" cy="307777"/>
          </a:xfrm>
          <a:prstGeom prst="rect">
            <a:avLst/>
          </a:prstGeom>
          <a:noFill/>
        </p:spPr>
        <p:txBody>
          <a:bodyPr wrap="square">
            <a:spAutoFit/>
          </a:bodyPr>
          <a:lstStyle/>
          <a:p>
            <a:pPr algn="l">
              <a:defRPr sz="1400" b="1">
                <a:solidFill>
                  <a:srgbClr val="FFFFFF"/>
                </a:solidFill>
                <a:latin typeface="Calibri"/>
              </a:defRPr>
            </a:pPr>
            <a:r>
              <a:rPr dirty="0"/>
              <a:t>Phase 3: </a:t>
            </a:r>
            <a:r>
              <a:rPr lang="en-US" dirty="0"/>
              <a:t>Week</a:t>
            </a:r>
            <a:r>
              <a:rPr dirty="0"/>
              <a:t> 10–18</a:t>
            </a:r>
          </a:p>
        </p:txBody>
      </p:sp>
      <p:sp>
        <p:nvSpPr>
          <p:cNvPr id="14" name="TextBox 13"/>
          <p:cNvSpPr txBox="1"/>
          <p:nvPr/>
        </p:nvSpPr>
        <p:spPr>
          <a:xfrm>
            <a:off x="914400" y="3429000"/>
            <a:ext cx="10332720" cy="411480"/>
          </a:xfrm>
          <a:prstGeom prst="rect">
            <a:avLst/>
          </a:prstGeom>
          <a:noFill/>
        </p:spPr>
        <p:txBody>
          <a:bodyPr wrap="square">
            <a:spAutoFit/>
          </a:bodyPr>
          <a:lstStyle/>
          <a:p>
            <a:pPr algn="l">
              <a:defRPr sz="1300" b="0">
                <a:solidFill>
                  <a:srgbClr val="FFFFFF"/>
                </a:solidFill>
                <a:latin typeface="Calibri"/>
              </a:defRPr>
            </a:pPr>
            <a:r>
              <a:t>Pilot deployments; first Digital Technology Exhibition; examination system expansion; waste and cultural registry pilots; AI/privacy copilot development.</a:t>
            </a:r>
          </a:p>
        </p:txBody>
      </p:sp>
      <p:sp>
        <p:nvSpPr>
          <p:cNvPr id="15" name="Rounded Rectangle 14"/>
          <p:cNvSpPr/>
          <p:nvPr/>
        </p:nvSpPr>
        <p:spPr>
          <a:xfrm>
            <a:off x="731520" y="3977639"/>
            <a:ext cx="10698480" cy="77724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050791"/>
            <a:ext cx="10332720" cy="307777"/>
          </a:xfrm>
          <a:prstGeom prst="rect">
            <a:avLst/>
          </a:prstGeom>
          <a:noFill/>
        </p:spPr>
        <p:txBody>
          <a:bodyPr wrap="square">
            <a:spAutoFit/>
          </a:bodyPr>
          <a:lstStyle/>
          <a:p>
            <a:pPr algn="l">
              <a:defRPr sz="1400" b="1">
                <a:solidFill>
                  <a:srgbClr val="FFFFFF"/>
                </a:solidFill>
                <a:latin typeface="Calibri"/>
              </a:defRPr>
            </a:pPr>
            <a:r>
              <a:rPr dirty="0"/>
              <a:t>Phase 4: </a:t>
            </a:r>
            <a:r>
              <a:rPr lang="en-US" dirty="0"/>
              <a:t>Week</a:t>
            </a:r>
            <a:r>
              <a:rPr dirty="0"/>
              <a:t> 19–24</a:t>
            </a:r>
          </a:p>
        </p:txBody>
      </p:sp>
      <p:sp>
        <p:nvSpPr>
          <p:cNvPr id="17" name="TextBox 16"/>
          <p:cNvSpPr txBox="1"/>
          <p:nvPr/>
        </p:nvSpPr>
        <p:spPr>
          <a:xfrm>
            <a:off x="914400" y="4297679"/>
            <a:ext cx="10332720" cy="411480"/>
          </a:xfrm>
          <a:prstGeom prst="rect">
            <a:avLst/>
          </a:prstGeom>
          <a:noFill/>
        </p:spPr>
        <p:txBody>
          <a:bodyPr wrap="square">
            <a:spAutoFit/>
          </a:bodyPr>
          <a:lstStyle/>
          <a:p>
            <a:pPr algn="l">
              <a:defRPr sz="1300" b="0">
                <a:solidFill>
                  <a:srgbClr val="FFFFFF"/>
                </a:solidFill>
                <a:latin typeface="Calibri"/>
              </a:defRPr>
            </a:pPr>
            <a:r>
              <a:t>Evaluation and refinement; wider institutional onboarding; reporting platform and service portal expansion; second exhibition; advanced training.</a:t>
            </a:r>
          </a:p>
        </p:txBody>
      </p:sp>
      <p:sp>
        <p:nvSpPr>
          <p:cNvPr id="18" name="Rounded Rectangle 17"/>
          <p:cNvSpPr/>
          <p:nvPr/>
        </p:nvSpPr>
        <p:spPr>
          <a:xfrm>
            <a:off x="731520" y="4846320"/>
            <a:ext cx="10698480" cy="77724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919472"/>
            <a:ext cx="10332720" cy="307777"/>
          </a:xfrm>
          <a:prstGeom prst="rect">
            <a:avLst/>
          </a:prstGeom>
          <a:noFill/>
        </p:spPr>
        <p:txBody>
          <a:bodyPr wrap="square">
            <a:spAutoFit/>
          </a:bodyPr>
          <a:lstStyle/>
          <a:p>
            <a:pPr algn="l">
              <a:defRPr sz="1400" b="1">
                <a:solidFill>
                  <a:srgbClr val="FFFFFF"/>
                </a:solidFill>
                <a:latin typeface="Calibri"/>
              </a:defRPr>
            </a:pPr>
            <a:r>
              <a:rPr dirty="0"/>
              <a:t>Phase 5: </a:t>
            </a:r>
            <a:r>
              <a:rPr lang="en-US" dirty="0"/>
              <a:t>Week</a:t>
            </a:r>
            <a:r>
              <a:rPr dirty="0"/>
              <a:t> 25–30</a:t>
            </a:r>
          </a:p>
        </p:txBody>
      </p:sp>
      <p:sp>
        <p:nvSpPr>
          <p:cNvPr id="20" name="TextBox 19"/>
          <p:cNvSpPr txBox="1"/>
          <p:nvPr/>
        </p:nvSpPr>
        <p:spPr>
          <a:xfrm>
            <a:off x="914400" y="5166359"/>
            <a:ext cx="10332720" cy="411480"/>
          </a:xfrm>
          <a:prstGeom prst="rect">
            <a:avLst/>
          </a:prstGeom>
          <a:noFill/>
        </p:spPr>
        <p:txBody>
          <a:bodyPr wrap="square">
            <a:spAutoFit/>
          </a:bodyPr>
          <a:lstStyle/>
          <a:p>
            <a:pPr algn="l">
              <a:defRPr sz="1300" b="0">
                <a:solidFill>
                  <a:srgbClr val="FFFFFF"/>
                </a:solidFill>
                <a:latin typeface="Calibri"/>
              </a:defRPr>
            </a:pPr>
            <a:r>
              <a:t>Scale-up; interoperability; operational strengthening; third-party assurance; sustainability and local support arrangements.</a:t>
            </a:r>
          </a:p>
        </p:txBody>
      </p:sp>
      <p:sp>
        <p:nvSpPr>
          <p:cNvPr id="21" name="Rounded Rectangle 20"/>
          <p:cNvSpPr/>
          <p:nvPr/>
        </p:nvSpPr>
        <p:spPr>
          <a:xfrm>
            <a:off x="731520" y="5715000"/>
            <a:ext cx="10698480" cy="77724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788152"/>
            <a:ext cx="10332720" cy="307777"/>
          </a:xfrm>
          <a:prstGeom prst="rect">
            <a:avLst/>
          </a:prstGeom>
          <a:noFill/>
        </p:spPr>
        <p:txBody>
          <a:bodyPr wrap="square">
            <a:spAutoFit/>
          </a:bodyPr>
          <a:lstStyle/>
          <a:p>
            <a:pPr algn="l">
              <a:defRPr sz="1400" b="1">
                <a:solidFill>
                  <a:srgbClr val="FFFFFF"/>
                </a:solidFill>
                <a:latin typeface="Calibri"/>
              </a:defRPr>
            </a:pPr>
            <a:r>
              <a:rPr dirty="0"/>
              <a:t>Phase 6: </a:t>
            </a:r>
            <a:r>
              <a:rPr lang="en-US" dirty="0"/>
              <a:t>Week</a:t>
            </a:r>
            <a:r>
              <a:rPr dirty="0"/>
              <a:t> 31–36</a:t>
            </a:r>
          </a:p>
        </p:txBody>
      </p:sp>
      <p:sp>
        <p:nvSpPr>
          <p:cNvPr id="23" name="TextBox 22"/>
          <p:cNvSpPr txBox="1"/>
          <p:nvPr/>
        </p:nvSpPr>
        <p:spPr>
          <a:xfrm>
            <a:off x="914400" y="6035040"/>
            <a:ext cx="10332720" cy="411480"/>
          </a:xfrm>
          <a:prstGeom prst="rect">
            <a:avLst/>
          </a:prstGeom>
          <a:noFill/>
        </p:spPr>
        <p:txBody>
          <a:bodyPr wrap="square">
            <a:spAutoFit/>
          </a:bodyPr>
          <a:lstStyle/>
          <a:p>
            <a:pPr algn="l">
              <a:defRPr sz="1300" b="0">
                <a:solidFill>
                  <a:srgbClr val="FFFFFF"/>
                </a:solidFill>
                <a:latin typeface="Calibri"/>
              </a:defRPr>
            </a:pPr>
            <a:r>
              <a:t>Final evaluation; knowledge products; institutional handover; maintenance model; replication/scale strategy; final exhibition and dissemination.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3200" b="1">
                <a:solidFill>
                  <a:srgbClr val="0D1B2A"/>
                </a:solidFill>
                <a:latin typeface="Calibri"/>
              </a:defRPr>
            </a:pPr>
            <a:r>
              <a:t>CROSS-CUTTING PRINCIPLES</a:t>
            </a:r>
          </a:p>
        </p:txBody>
      </p:sp>
      <p:sp>
        <p:nvSpPr>
          <p:cNvPr id="6" name="Rounded Rectangle 5"/>
          <p:cNvSpPr/>
          <p:nvPr/>
        </p:nvSpPr>
        <p:spPr>
          <a:xfrm>
            <a:off x="731520" y="1463040"/>
            <a:ext cx="530352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46304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600200"/>
            <a:ext cx="5029200" cy="548640"/>
          </a:xfrm>
          <a:prstGeom prst="rect">
            <a:avLst/>
          </a:prstGeom>
          <a:noFill/>
        </p:spPr>
        <p:txBody>
          <a:bodyPr wrap="square">
            <a:spAutoFit/>
          </a:bodyPr>
          <a:lstStyle/>
          <a:p>
            <a:pPr algn="l">
              <a:defRPr sz="1400" b="0">
                <a:solidFill>
                  <a:srgbClr val="1A1A1A"/>
                </a:solidFill>
                <a:latin typeface="Calibri"/>
              </a:defRPr>
            </a:pPr>
            <a:r>
              <a:t>Human-centred design and accessibility</a:t>
            </a:r>
          </a:p>
        </p:txBody>
      </p:sp>
      <p:sp>
        <p:nvSpPr>
          <p:cNvPr id="9" name="Rounded Rectangle 8"/>
          <p:cNvSpPr/>
          <p:nvPr/>
        </p:nvSpPr>
        <p:spPr>
          <a:xfrm>
            <a:off x="731520" y="2423160"/>
            <a:ext cx="530352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242316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560320"/>
            <a:ext cx="5029200" cy="548640"/>
          </a:xfrm>
          <a:prstGeom prst="rect">
            <a:avLst/>
          </a:prstGeom>
          <a:noFill/>
        </p:spPr>
        <p:txBody>
          <a:bodyPr wrap="square">
            <a:spAutoFit/>
          </a:bodyPr>
          <a:lstStyle/>
          <a:p>
            <a:pPr algn="l">
              <a:defRPr sz="1400" b="0">
                <a:solidFill>
                  <a:srgbClr val="1A1A1A"/>
                </a:solidFill>
                <a:latin typeface="Calibri"/>
              </a:defRPr>
            </a:pPr>
            <a:r>
              <a:t>Responsible and ethical AI, with human oversight for consequential decisions</a:t>
            </a:r>
          </a:p>
        </p:txBody>
      </p:sp>
      <p:sp>
        <p:nvSpPr>
          <p:cNvPr id="12" name="Rounded Rectangle 11"/>
          <p:cNvSpPr/>
          <p:nvPr/>
        </p:nvSpPr>
        <p:spPr>
          <a:xfrm>
            <a:off x="731520" y="3383280"/>
            <a:ext cx="530352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38328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20440"/>
            <a:ext cx="5029200" cy="548640"/>
          </a:xfrm>
          <a:prstGeom prst="rect">
            <a:avLst/>
          </a:prstGeom>
          <a:noFill/>
        </p:spPr>
        <p:txBody>
          <a:bodyPr wrap="square">
            <a:spAutoFit/>
          </a:bodyPr>
          <a:lstStyle/>
          <a:p>
            <a:pPr algn="l">
              <a:defRPr sz="1400" b="0">
                <a:solidFill>
                  <a:srgbClr val="1A1A1A"/>
                </a:solidFill>
                <a:latin typeface="Calibri"/>
              </a:defRPr>
            </a:pPr>
            <a:r>
              <a:t>Privacy and data protection by design</a:t>
            </a:r>
          </a:p>
        </p:txBody>
      </p:sp>
      <p:sp>
        <p:nvSpPr>
          <p:cNvPr id="15" name="Rounded Rectangle 14"/>
          <p:cNvSpPr/>
          <p:nvPr/>
        </p:nvSpPr>
        <p:spPr>
          <a:xfrm>
            <a:off x="731520" y="4343400"/>
            <a:ext cx="530352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43434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480560"/>
            <a:ext cx="5029200" cy="548640"/>
          </a:xfrm>
          <a:prstGeom prst="rect">
            <a:avLst/>
          </a:prstGeom>
          <a:noFill/>
        </p:spPr>
        <p:txBody>
          <a:bodyPr wrap="square">
            <a:spAutoFit/>
          </a:bodyPr>
          <a:lstStyle/>
          <a:p>
            <a:pPr algn="l">
              <a:defRPr sz="1400" b="0">
                <a:solidFill>
                  <a:srgbClr val="1A1A1A"/>
                </a:solidFill>
                <a:latin typeface="Calibri"/>
              </a:defRPr>
            </a:pPr>
            <a:r>
              <a:t>Cybersecurity and role-based access controls</a:t>
            </a:r>
          </a:p>
        </p:txBody>
      </p:sp>
      <p:sp>
        <p:nvSpPr>
          <p:cNvPr id="18" name="Rounded Rectangle 17"/>
          <p:cNvSpPr/>
          <p:nvPr/>
        </p:nvSpPr>
        <p:spPr>
          <a:xfrm>
            <a:off x="731520" y="5303520"/>
            <a:ext cx="530352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1520" y="530352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440680"/>
            <a:ext cx="5029200" cy="548640"/>
          </a:xfrm>
          <a:prstGeom prst="rect">
            <a:avLst/>
          </a:prstGeom>
          <a:noFill/>
        </p:spPr>
        <p:txBody>
          <a:bodyPr wrap="square">
            <a:spAutoFit/>
          </a:bodyPr>
          <a:lstStyle/>
          <a:p>
            <a:pPr algn="l">
              <a:defRPr sz="1400" b="0">
                <a:solidFill>
                  <a:srgbClr val="1A1A1A"/>
                </a:solidFill>
                <a:latin typeface="Calibri"/>
              </a:defRPr>
            </a:pPr>
            <a:r>
              <a:t>Interoperability and avoidance of unnecessary vendor lock-in</a:t>
            </a:r>
          </a:p>
        </p:txBody>
      </p:sp>
      <p:sp>
        <p:nvSpPr>
          <p:cNvPr id="21" name="Rounded Rectangle 20"/>
          <p:cNvSpPr/>
          <p:nvPr/>
        </p:nvSpPr>
        <p:spPr>
          <a:xfrm>
            <a:off x="6309360" y="1463040"/>
            <a:ext cx="530352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146304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600200"/>
            <a:ext cx="5029200" cy="548640"/>
          </a:xfrm>
          <a:prstGeom prst="rect">
            <a:avLst/>
          </a:prstGeom>
          <a:noFill/>
        </p:spPr>
        <p:txBody>
          <a:bodyPr wrap="square">
            <a:spAutoFit/>
          </a:bodyPr>
          <a:lstStyle/>
          <a:p>
            <a:pPr algn="l">
              <a:defRPr sz="1400" b="0">
                <a:solidFill>
                  <a:srgbClr val="1A1A1A"/>
                </a:solidFill>
                <a:latin typeface="Calibri"/>
              </a:defRPr>
            </a:pPr>
            <a:r>
              <a:t>Local skills transfer, documentation and maintainability</a:t>
            </a:r>
          </a:p>
        </p:txBody>
      </p:sp>
      <p:sp>
        <p:nvSpPr>
          <p:cNvPr id="24" name="Rounded Rectangle 23"/>
          <p:cNvSpPr/>
          <p:nvPr/>
        </p:nvSpPr>
        <p:spPr>
          <a:xfrm>
            <a:off x="6309360" y="2423160"/>
            <a:ext cx="530352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309360" y="242316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2560320"/>
            <a:ext cx="5029200" cy="548640"/>
          </a:xfrm>
          <a:prstGeom prst="rect">
            <a:avLst/>
          </a:prstGeom>
          <a:noFill/>
        </p:spPr>
        <p:txBody>
          <a:bodyPr wrap="square">
            <a:spAutoFit/>
          </a:bodyPr>
          <a:lstStyle/>
          <a:p>
            <a:pPr algn="l">
              <a:defRPr sz="1400" b="0">
                <a:solidFill>
                  <a:srgbClr val="1A1A1A"/>
                </a:solidFill>
                <a:latin typeface="Calibri"/>
              </a:defRPr>
            </a:pPr>
            <a:r>
              <a:t>Gender and youth inclusion in training and innovation opportunities</a:t>
            </a:r>
          </a:p>
        </p:txBody>
      </p:sp>
      <p:sp>
        <p:nvSpPr>
          <p:cNvPr id="27" name="Rounded Rectangle 26"/>
          <p:cNvSpPr/>
          <p:nvPr/>
        </p:nvSpPr>
        <p:spPr>
          <a:xfrm>
            <a:off x="6309360" y="3383280"/>
            <a:ext cx="530352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09360" y="338328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3520440"/>
            <a:ext cx="5029200" cy="548640"/>
          </a:xfrm>
          <a:prstGeom prst="rect">
            <a:avLst/>
          </a:prstGeom>
          <a:noFill/>
        </p:spPr>
        <p:txBody>
          <a:bodyPr wrap="square">
            <a:spAutoFit/>
          </a:bodyPr>
          <a:lstStyle/>
          <a:p>
            <a:pPr algn="l">
              <a:defRPr sz="1400" b="0">
                <a:solidFill>
                  <a:srgbClr val="1A1A1A"/>
                </a:solidFill>
                <a:latin typeface="Calibri"/>
              </a:defRPr>
            </a:pPr>
            <a:r>
              <a:t>Evidence-based monitoring and measurable service outcomes</a:t>
            </a:r>
          </a:p>
        </p:txBody>
      </p:sp>
      <p:sp>
        <p:nvSpPr>
          <p:cNvPr id="30" name="Rounded Rectangle 29"/>
          <p:cNvSpPr/>
          <p:nvPr/>
        </p:nvSpPr>
        <p:spPr>
          <a:xfrm>
            <a:off x="6309360" y="4343400"/>
            <a:ext cx="5303520" cy="82296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09360" y="43434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46520" y="4480560"/>
            <a:ext cx="5029200" cy="548640"/>
          </a:xfrm>
          <a:prstGeom prst="rect">
            <a:avLst/>
          </a:prstGeom>
          <a:noFill/>
        </p:spPr>
        <p:txBody>
          <a:bodyPr wrap="square">
            <a:spAutoFit/>
          </a:bodyPr>
          <a:lstStyle/>
          <a:p>
            <a:pPr algn="l">
              <a:defRPr sz="1400" b="0">
                <a:solidFill>
                  <a:srgbClr val="1A1A1A"/>
                </a:solidFill>
                <a:latin typeface="Calibri"/>
              </a:defRPr>
            </a:pPr>
            <a:r>
              <a:t>Sustainability, open standards where appropriate, and responsible technology procurement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3200" b="1">
                <a:solidFill>
                  <a:srgbClr val="0D1B2A"/>
                </a:solidFill>
                <a:latin typeface="Calibri"/>
              </a:defRPr>
            </a:pPr>
            <a:r>
              <a:t>MONITORING, EVALUATION &amp; LEARNING</a:t>
            </a:r>
          </a:p>
        </p:txBody>
      </p:sp>
      <p:sp>
        <p:nvSpPr>
          <p:cNvPr id="6" name="Rounded Rectangle 5"/>
          <p:cNvSpPr/>
          <p:nvPr/>
        </p:nvSpPr>
        <p:spPr>
          <a:xfrm>
            <a:off x="731520" y="1417320"/>
            <a:ext cx="5303520" cy="155448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527048"/>
            <a:ext cx="5029200" cy="274320"/>
          </a:xfrm>
          <a:prstGeom prst="rect">
            <a:avLst/>
          </a:prstGeom>
          <a:noFill/>
        </p:spPr>
        <p:txBody>
          <a:bodyPr wrap="square">
            <a:spAutoFit/>
          </a:bodyPr>
          <a:lstStyle/>
          <a:p>
            <a:pPr algn="l">
              <a:defRPr sz="1400" b="1">
                <a:solidFill>
                  <a:srgbClr val="1B3A5C"/>
                </a:solidFill>
                <a:latin typeface="Calibri"/>
              </a:defRPr>
            </a:pPr>
            <a:r>
              <a:t>Input Indicators</a:t>
            </a:r>
          </a:p>
        </p:txBody>
      </p:sp>
      <p:sp>
        <p:nvSpPr>
          <p:cNvPr id="8" name="TextBox 7"/>
          <p:cNvSpPr txBox="1"/>
          <p:nvPr/>
        </p:nvSpPr>
        <p:spPr>
          <a:xfrm>
            <a:off x="868680" y="1828800"/>
            <a:ext cx="5029200" cy="1097280"/>
          </a:xfrm>
          <a:prstGeom prst="rect">
            <a:avLst/>
          </a:prstGeom>
          <a:noFill/>
        </p:spPr>
        <p:txBody>
          <a:bodyPr wrap="square">
            <a:spAutoFit/>
          </a:bodyPr>
          <a:lstStyle/>
          <a:p>
            <a:pPr algn="l">
              <a:defRPr sz="1300" b="0">
                <a:solidFill>
                  <a:srgbClr val="1A1A1A"/>
                </a:solidFill>
                <a:latin typeface="Calibri"/>
              </a:defRPr>
            </a:pPr>
            <a:r>
              <a:t>Funds mobilised, trainers/technical personnel engaged, equipment and infrastructure established.</a:t>
            </a:r>
          </a:p>
        </p:txBody>
      </p:sp>
      <p:sp>
        <p:nvSpPr>
          <p:cNvPr id="9" name="Rounded Rectangle 8"/>
          <p:cNvSpPr/>
          <p:nvPr/>
        </p:nvSpPr>
        <p:spPr>
          <a:xfrm>
            <a:off x="731520" y="3108960"/>
            <a:ext cx="5303520" cy="155448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218688"/>
            <a:ext cx="5029200" cy="274320"/>
          </a:xfrm>
          <a:prstGeom prst="rect">
            <a:avLst/>
          </a:prstGeom>
          <a:noFill/>
        </p:spPr>
        <p:txBody>
          <a:bodyPr wrap="square">
            <a:spAutoFit/>
          </a:bodyPr>
          <a:lstStyle/>
          <a:p>
            <a:pPr algn="l">
              <a:defRPr sz="1400" b="1">
                <a:solidFill>
                  <a:srgbClr val="1B3A5C"/>
                </a:solidFill>
                <a:latin typeface="Calibri"/>
              </a:defRPr>
            </a:pPr>
            <a:r>
              <a:t>Output Indicators</a:t>
            </a:r>
          </a:p>
        </p:txBody>
      </p:sp>
      <p:sp>
        <p:nvSpPr>
          <p:cNvPr id="11" name="TextBox 10"/>
          <p:cNvSpPr txBox="1"/>
          <p:nvPr/>
        </p:nvSpPr>
        <p:spPr>
          <a:xfrm>
            <a:off x="868680" y="3520440"/>
            <a:ext cx="5029200" cy="1097280"/>
          </a:xfrm>
          <a:prstGeom prst="rect">
            <a:avLst/>
          </a:prstGeom>
          <a:noFill/>
        </p:spPr>
        <p:txBody>
          <a:bodyPr wrap="square">
            <a:spAutoFit/>
          </a:bodyPr>
          <a:lstStyle/>
          <a:p>
            <a:pPr algn="l">
              <a:defRPr sz="1300" b="0">
                <a:solidFill>
                  <a:srgbClr val="1A1A1A"/>
                </a:solidFill>
                <a:latin typeface="Calibri"/>
              </a:defRPr>
            </a:pPr>
            <a:r>
              <a:t>Trainees certified, systems developed, pilots completed, institutions onboarded, services digitised, reports processed and innovation events delivered.</a:t>
            </a:r>
          </a:p>
        </p:txBody>
      </p:sp>
      <p:sp>
        <p:nvSpPr>
          <p:cNvPr id="12" name="Rounded Rectangle 11"/>
          <p:cNvSpPr/>
          <p:nvPr/>
        </p:nvSpPr>
        <p:spPr>
          <a:xfrm>
            <a:off x="731520" y="4800600"/>
            <a:ext cx="5303520" cy="155448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910328"/>
            <a:ext cx="5029200" cy="274320"/>
          </a:xfrm>
          <a:prstGeom prst="rect">
            <a:avLst/>
          </a:prstGeom>
          <a:noFill/>
        </p:spPr>
        <p:txBody>
          <a:bodyPr wrap="square">
            <a:spAutoFit/>
          </a:bodyPr>
          <a:lstStyle/>
          <a:p>
            <a:pPr algn="l">
              <a:defRPr sz="1400" b="1">
                <a:solidFill>
                  <a:srgbClr val="1B3A5C"/>
                </a:solidFill>
                <a:latin typeface="Calibri"/>
              </a:defRPr>
            </a:pPr>
            <a:r>
              <a:t>Outcome Indicators</a:t>
            </a:r>
          </a:p>
        </p:txBody>
      </p:sp>
      <p:sp>
        <p:nvSpPr>
          <p:cNvPr id="14" name="TextBox 13"/>
          <p:cNvSpPr txBox="1"/>
          <p:nvPr/>
        </p:nvSpPr>
        <p:spPr>
          <a:xfrm>
            <a:off x="868680" y="5212080"/>
            <a:ext cx="5029200" cy="1097280"/>
          </a:xfrm>
          <a:prstGeom prst="rect">
            <a:avLst/>
          </a:prstGeom>
          <a:noFill/>
        </p:spPr>
        <p:txBody>
          <a:bodyPr wrap="square">
            <a:spAutoFit/>
          </a:bodyPr>
          <a:lstStyle/>
          <a:p>
            <a:pPr algn="l">
              <a:defRPr sz="1300" b="0">
                <a:solidFill>
                  <a:srgbClr val="1A1A1A"/>
                </a:solidFill>
                <a:latin typeface="Calibri"/>
              </a:defRPr>
            </a:pPr>
            <a:r>
              <a:t>Improved processing time, increased digital-service uptake, improved data quality, improved reporting visibility, stronger privacy practices, improved academic-result workflows and increased local technical capacity.</a:t>
            </a:r>
          </a:p>
        </p:txBody>
      </p:sp>
      <p:sp>
        <p:nvSpPr>
          <p:cNvPr id="15" name="Rounded Rectangle 14"/>
          <p:cNvSpPr/>
          <p:nvPr/>
        </p:nvSpPr>
        <p:spPr>
          <a:xfrm>
            <a:off x="6309360" y="1417320"/>
            <a:ext cx="5303520" cy="155448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1527048"/>
            <a:ext cx="5029200" cy="274320"/>
          </a:xfrm>
          <a:prstGeom prst="rect">
            <a:avLst/>
          </a:prstGeom>
          <a:noFill/>
        </p:spPr>
        <p:txBody>
          <a:bodyPr wrap="square">
            <a:spAutoFit/>
          </a:bodyPr>
          <a:lstStyle/>
          <a:p>
            <a:pPr algn="l">
              <a:defRPr sz="1400" b="1">
                <a:solidFill>
                  <a:srgbClr val="1B3A5C"/>
                </a:solidFill>
                <a:latin typeface="Calibri"/>
              </a:defRPr>
            </a:pPr>
            <a:r>
              <a:t>Equity Indicators</a:t>
            </a:r>
          </a:p>
        </p:txBody>
      </p:sp>
      <p:sp>
        <p:nvSpPr>
          <p:cNvPr id="17" name="TextBox 16"/>
          <p:cNvSpPr txBox="1"/>
          <p:nvPr/>
        </p:nvSpPr>
        <p:spPr>
          <a:xfrm>
            <a:off x="6446520" y="1828800"/>
            <a:ext cx="5029200" cy="1097280"/>
          </a:xfrm>
          <a:prstGeom prst="rect">
            <a:avLst/>
          </a:prstGeom>
          <a:noFill/>
        </p:spPr>
        <p:txBody>
          <a:bodyPr wrap="square">
            <a:spAutoFit/>
          </a:bodyPr>
          <a:lstStyle/>
          <a:p>
            <a:pPr algn="l">
              <a:defRPr sz="1300" b="0">
                <a:solidFill>
                  <a:srgbClr val="1A1A1A"/>
                </a:solidFill>
                <a:latin typeface="Calibri"/>
              </a:defRPr>
            </a:pPr>
            <a:r>
              <a:t>Participation of women and youth, accessibility of digital services, geographic/institutional reach and inclusion of underserved users.</a:t>
            </a:r>
          </a:p>
        </p:txBody>
      </p:sp>
      <p:sp>
        <p:nvSpPr>
          <p:cNvPr id="18" name="Rounded Rectangle 17"/>
          <p:cNvSpPr/>
          <p:nvPr/>
        </p:nvSpPr>
        <p:spPr>
          <a:xfrm>
            <a:off x="6309360" y="3108960"/>
            <a:ext cx="5303520" cy="155448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3218688"/>
            <a:ext cx="5029200" cy="274320"/>
          </a:xfrm>
          <a:prstGeom prst="rect">
            <a:avLst/>
          </a:prstGeom>
          <a:noFill/>
        </p:spPr>
        <p:txBody>
          <a:bodyPr wrap="square">
            <a:spAutoFit/>
          </a:bodyPr>
          <a:lstStyle/>
          <a:p>
            <a:pPr algn="l">
              <a:defRPr sz="1400" b="1">
                <a:solidFill>
                  <a:srgbClr val="1B3A5C"/>
                </a:solidFill>
                <a:latin typeface="Calibri"/>
              </a:defRPr>
            </a:pPr>
            <a:r>
              <a:t>Quality Indicators</a:t>
            </a:r>
          </a:p>
        </p:txBody>
      </p:sp>
      <p:sp>
        <p:nvSpPr>
          <p:cNvPr id="20" name="TextBox 19"/>
          <p:cNvSpPr txBox="1"/>
          <p:nvPr/>
        </p:nvSpPr>
        <p:spPr>
          <a:xfrm>
            <a:off x="6446520" y="3520440"/>
            <a:ext cx="5029200" cy="1097280"/>
          </a:xfrm>
          <a:prstGeom prst="rect">
            <a:avLst/>
          </a:prstGeom>
          <a:noFill/>
        </p:spPr>
        <p:txBody>
          <a:bodyPr wrap="square">
            <a:spAutoFit/>
          </a:bodyPr>
          <a:lstStyle/>
          <a:p>
            <a:pPr algn="l">
              <a:defRPr sz="1300" b="0">
                <a:solidFill>
                  <a:srgbClr val="1A1A1A"/>
                </a:solidFill>
                <a:latin typeface="Calibri"/>
              </a:defRPr>
            </a:pPr>
            <a:r>
              <a:t>Uptime, security-test results, user satisfaction, defect rates, audit findings, documentation completeness and maintenance readiness.</a:t>
            </a:r>
          </a:p>
        </p:txBody>
      </p:sp>
      <p:sp>
        <p:nvSpPr>
          <p:cNvPr id="21" name="Rounded Rectangle 20"/>
          <p:cNvSpPr/>
          <p:nvPr/>
        </p:nvSpPr>
        <p:spPr>
          <a:xfrm>
            <a:off x="6309360" y="4800600"/>
            <a:ext cx="5303520" cy="1554480"/>
          </a:xfrm>
          <a:prstGeom prst="roundRect">
            <a:avLst/>
          </a:prstGeom>
          <a:solidFill>
            <a:srgbClr val="FFFFFF"/>
          </a:solidFill>
          <a:ln>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4910328"/>
            <a:ext cx="5029200" cy="274320"/>
          </a:xfrm>
          <a:prstGeom prst="rect">
            <a:avLst/>
          </a:prstGeom>
          <a:noFill/>
        </p:spPr>
        <p:txBody>
          <a:bodyPr wrap="square">
            <a:spAutoFit/>
          </a:bodyPr>
          <a:lstStyle/>
          <a:p>
            <a:pPr algn="l">
              <a:defRPr sz="1400" b="1">
                <a:solidFill>
                  <a:srgbClr val="1B3A5C"/>
                </a:solidFill>
                <a:latin typeface="Calibri"/>
              </a:defRPr>
            </a:pPr>
            <a:r>
              <a:t>Learning</a:t>
            </a:r>
          </a:p>
        </p:txBody>
      </p:sp>
      <p:sp>
        <p:nvSpPr>
          <p:cNvPr id="23" name="TextBox 22"/>
          <p:cNvSpPr txBox="1"/>
          <p:nvPr/>
        </p:nvSpPr>
        <p:spPr>
          <a:xfrm>
            <a:off x="6446520" y="5212080"/>
            <a:ext cx="5029200" cy="1097280"/>
          </a:xfrm>
          <a:prstGeom prst="rect">
            <a:avLst/>
          </a:prstGeom>
          <a:noFill/>
        </p:spPr>
        <p:txBody>
          <a:bodyPr wrap="square">
            <a:spAutoFit/>
          </a:bodyPr>
          <a:lstStyle/>
          <a:p>
            <a:pPr algn="l">
              <a:defRPr sz="1300" b="0">
                <a:solidFill>
                  <a:srgbClr val="1A1A1A"/>
                </a:solidFill>
                <a:latin typeface="Calibri"/>
              </a:defRPr>
            </a:pPr>
            <a:r>
              <a:t>Quarterly reviews, user feedback, pilot evaluations, annual portfolio reviews and an end-of-programme independent evaluation.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40080"/>
            <a:ext cx="1828800" cy="274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22960"/>
            <a:ext cx="10058400" cy="457200"/>
          </a:xfrm>
          <a:prstGeom prst="rect">
            <a:avLst/>
          </a:prstGeom>
          <a:noFill/>
        </p:spPr>
        <p:txBody>
          <a:bodyPr wrap="square">
            <a:spAutoFit/>
          </a:bodyPr>
          <a:lstStyle/>
          <a:p>
            <a:pPr algn="l">
              <a:defRPr sz="3200" b="1">
                <a:solidFill>
                  <a:srgbClr val="0D1B2A"/>
                </a:solidFill>
                <a:latin typeface="Calibri"/>
              </a:defRPr>
            </a:pPr>
            <a:r>
              <a:t>SUSTAINABILITY &amp; RISK MANAGEMENT</a:t>
            </a:r>
          </a:p>
        </p:txBody>
      </p:sp>
      <p:sp>
        <p:nvSpPr>
          <p:cNvPr id="6" name="Rounded Rectangle 5"/>
          <p:cNvSpPr/>
          <p:nvPr/>
        </p:nvSpPr>
        <p:spPr>
          <a:xfrm>
            <a:off x="731520" y="1417320"/>
            <a:ext cx="10698480" cy="91440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10332720" cy="274320"/>
          </a:xfrm>
          <a:prstGeom prst="rect">
            <a:avLst/>
          </a:prstGeom>
          <a:noFill/>
        </p:spPr>
        <p:txBody>
          <a:bodyPr wrap="square">
            <a:spAutoFit/>
          </a:bodyPr>
          <a:lstStyle/>
          <a:p>
            <a:pPr algn="l">
              <a:defRPr sz="1400" b="1">
                <a:solidFill>
                  <a:srgbClr val="C9A227"/>
                </a:solidFill>
                <a:latin typeface="Calibri"/>
              </a:defRPr>
            </a:pPr>
            <a:r>
              <a:t>Local Technical Capacity</a:t>
            </a:r>
          </a:p>
        </p:txBody>
      </p:sp>
      <p:sp>
        <p:nvSpPr>
          <p:cNvPr id="8" name="TextBox 7"/>
          <p:cNvSpPr txBox="1"/>
          <p:nvPr/>
        </p:nvSpPr>
        <p:spPr>
          <a:xfrm>
            <a:off x="914400" y="1783080"/>
            <a:ext cx="10332720" cy="457200"/>
          </a:xfrm>
          <a:prstGeom prst="rect">
            <a:avLst/>
          </a:prstGeom>
          <a:noFill/>
        </p:spPr>
        <p:txBody>
          <a:bodyPr wrap="square">
            <a:spAutoFit/>
          </a:bodyPr>
          <a:lstStyle/>
          <a:p>
            <a:pPr algn="l">
              <a:defRPr sz="1300" b="0">
                <a:solidFill>
                  <a:srgbClr val="FFFFFF"/>
                </a:solidFill>
                <a:latin typeface="Calibri"/>
              </a:defRPr>
            </a:pPr>
            <a:r>
              <a:t>In-house engineering, training of civil servants, and local software maintenance ensure systems outlive external funding.</a:t>
            </a:r>
          </a:p>
        </p:txBody>
      </p:sp>
      <p:sp>
        <p:nvSpPr>
          <p:cNvPr id="9" name="Rounded Rectangle 8"/>
          <p:cNvSpPr/>
          <p:nvPr/>
        </p:nvSpPr>
        <p:spPr>
          <a:xfrm>
            <a:off x="731520" y="2423160"/>
            <a:ext cx="10698480" cy="91440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514600"/>
            <a:ext cx="10332720" cy="274320"/>
          </a:xfrm>
          <a:prstGeom prst="rect">
            <a:avLst/>
          </a:prstGeom>
          <a:noFill/>
        </p:spPr>
        <p:txBody>
          <a:bodyPr wrap="square">
            <a:spAutoFit/>
          </a:bodyPr>
          <a:lstStyle/>
          <a:p>
            <a:pPr algn="l">
              <a:defRPr sz="1400" b="1">
                <a:solidFill>
                  <a:srgbClr val="C9A227"/>
                </a:solidFill>
                <a:latin typeface="Calibri"/>
              </a:defRPr>
            </a:pPr>
            <a:r>
              <a:t>Institutional Integration</a:t>
            </a:r>
          </a:p>
        </p:txBody>
      </p:sp>
      <p:sp>
        <p:nvSpPr>
          <p:cNvPr id="11" name="TextBox 10"/>
          <p:cNvSpPr txBox="1"/>
          <p:nvPr/>
        </p:nvSpPr>
        <p:spPr>
          <a:xfrm>
            <a:off x="914400" y="2788920"/>
            <a:ext cx="10332720" cy="457200"/>
          </a:xfrm>
          <a:prstGeom prst="rect">
            <a:avLst/>
          </a:prstGeom>
          <a:noFill/>
        </p:spPr>
        <p:txBody>
          <a:bodyPr wrap="square">
            <a:spAutoFit/>
          </a:bodyPr>
          <a:lstStyle/>
          <a:p>
            <a:pPr algn="l">
              <a:defRPr sz="1300" b="0">
                <a:solidFill>
                  <a:srgbClr val="FFFFFF"/>
                </a:solidFill>
                <a:latin typeface="Calibri"/>
              </a:defRPr>
            </a:pPr>
            <a:r>
              <a:t>Aligning platforms with statutory MDA workflows to guarantee operational adoption across government bodies.</a:t>
            </a:r>
          </a:p>
        </p:txBody>
      </p:sp>
      <p:sp>
        <p:nvSpPr>
          <p:cNvPr id="12" name="Rounded Rectangle 11"/>
          <p:cNvSpPr/>
          <p:nvPr/>
        </p:nvSpPr>
        <p:spPr>
          <a:xfrm>
            <a:off x="731520" y="3429000"/>
            <a:ext cx="10698480" cy="91440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520440"/>
            <a:ext cx="10332720" cy="274320"/>
          </a:xfrm>
          <a:prstGeom prst="rect">
            <a:avLst/>
          </a:prstGeom>
          <a:noFill/>
        </p:spPr>
        <p:txBody>
          <a:bodyPr wrap="square">
            <a:spAutoFit/>
          </a:bodyPr>
          <a:lstStyle/>
          <a:p>
            <a:pPr algn="l">
              <a:defRPr sz="1400" b="1">
                <a:solidFill>
                  <a:srgbClr val="C9A227"/>
                </a:solidFill>
                <a:latin typeface="Calibri"/>
              </a:defRPr>
            </a:pPr>
            <a:r>
              <a:t>Infrastructure &amp; Maintenance</a:t>
            </a:r>
          </a:p>
        </p:txBody>
      </p:sp>
      <p:sp>
        <p:nvSpPr>
          <p:cNvPr id="14" name="TextBox 13"/>
          <p:cNvSpPr txBox="1"/>
          <p:nvPr/>
        </p:nvSpPr>
        <p:spPr>
          <a:xfrm>
            <a:off x="914400" y="3794760"/>
            <a:ext cx="10332720" cy="457200"/>
          </a:xfrm>
          <a:prstGeom prst="rect">
            <a:avLst/>
          </a:prstGeom>
          <a:noFill/>
        </p:spPr>
        <p:txBody>
          <a:bodyPr wrap="square">
            <a:spAutoFit/>
          </a:bodyPr>
          <a:lstStyle/>
          <a:p>
            <a:pPr algn="l">
              <a:defRPr sz="1300" b="0">
                <a:solidFill>
                  <a:srgbClr val="FFFFFF"/>
                </a:solidFill>
                <a:latin typeface="Calibri"/>
              </a:defRPr>
            </a:pPr>
            <a:r>
              <a:t>Leveraging cloud infrastructure, modular open standards, and scheduled maintenance budgets for long-term scalability.</a:t>
            </a:r>
          </a:p>
        </p:txBody>
      </p:sp>
      <p:sp>
        <p:nvSpPr>
          <p:cNvPr id="15" name="Rounded Rectangle 14"/>
          <p:cNvSpPr/>
          <p:nvPr/>
        </p:nvSpPr>
        <p:spPr>
          <a:xfrm>
            <a:off x="731520" y="4434840"/>
            <a:ext cx="10698480" cy="91440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526280"/>
            <a:ext cx="10332720" cy="274320"/>
          </a:xfrm>
          <a:prstGeom prst="rect">
            <a:avLst/>
          </a:prstGeom>
          <a:noFill/>
        </p:spPr>
        <p:txBody>
          <a:bodyPr wrap="square">
            <a:spAutoFit/>
          </a:bodyPr>
          <a:lstStyle/>
          <a:p>
            <a:pPr algn="l">
              <a:defRPr sz="1400" b="1">
                <a:solidFill>
                  <a:srgbClr val="C9A227"/>
                </a:solidFill>
                <a:latin typeface="Calibri"/>
              </a:defRPr>
            </a:pPr>
            <a:r>
              <a:t>Data Privacy &amp; Security Risks</a:t>
            </a:r>
          </a:p>
        </p:txBody>
      </p:sp>
      <p:sp>
        <p:nvSpPr>
          <p:cNvPr id="17" name="TextBox 16"/>
          <p:cNvSpPr txBox="1"/>
          <p:nvPr/>
        </p:nvSpPr>
        <p:spPr>
          <a:xfrm>
            <a:off x="914400" y="4800600"/>
            <a:ext cx="10332720" cy="457200"/>
          </a:xfrm>
          <a:prstGeom prst="rect">
            <a:avLst/>
          </a:prstGeom>
          <a:noFill/>
        </p:spPr>
        <p:txBody>
          <a:bodyPr wrap="square">
            <a:spAutoFit/>
          </a:bodyPr>
          <a:lstStyle/>
          <a:p>
            <a:pPr algn="l">
              <a:defRPr sz="1300" b="0">
                <a:solidFill>
                  <a:srgbClr val="FFFFFF"/>
                </a:solidFill>
                <a:latin typeface="Calibri"/>
              </a:defRPr>
            </a:pPr>
            <a:r>
              <a:t>Mitigated via role-based access control, NDPA compliance oversight, and regular security audits.</a:t>
            </a:r>
          </a:p>
        </p:txBody>
      </p:sp>
      <p:sp>
        <p:nvSpPr>
          <p:cNvPr id="18" name="Rounded Rectangle 17"/>
          <p:cNvSpPr/>
          <p:nvPr/>
        </p:nvSpPr>
        <p:spPr>
          <a:xfrm>
            <a:off x="731520" y="5440680"/>
            <a:ext cx="10698480" cy="91440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532120"/>
            <a:ext cx="10332720" cy="274320"/>
          </a:xfrm>
          <a:prstGeom prst="rect">
            <a:avLst/>
          </a:prstGeom>
          <a:noFill/>
        </p:spPr>
        <p:txBody>
          <a:bodyPr wrap="square">
            <a:spAutoFit/>
          </a:bodyPr>
          <a:lstStyle/>
          <a:p>
            <a:pPr algn="l">
              <a:defRPr sz="1400" b="1">
                <a:solidFill>
                  <a:srgbClr val="C9A227"/>
                </a:solidFill>
                <a:latin typeface="Calibri"/>
              </a:defRPr>
            </a:pPr>
            <a:r>
              <a:t>Adoption &amp; Change Management</a:t>
            </a:r>
          </a:p>
        </p:txBody>
      </p:sp>
      <p:sp>
        <p:nvSpPr>
          <p:cNvPr id="20" name="TextBox 19"/>
          <p:cNvSpPr txBox="1"/>
          <p:nvPr/>
        </p:nvSpPr>
        <p:spPr>
          <a:xfrm>
            <a:off x="914400" y="5806440"/>
            <a:ext cx="10332720" cy="457200"/>
          </a:xfrm>
          <a:prstGeom prst="rect">
            <a:avLst/>
          </a:prstGeom>
          <a:noFill/>
        </p:spPr>
        <p:txBody>
          <a:bodyPr wrap="square">
            <a:spAutoFit/>
          </a:bodyPr>
          <a:lstStyle/>
          <a:p>
            <a:pPr algn="l">
              <a:defRPr sz="1300" b="0">
                <a:solidFill>
                  <a:srgbClr val="FFFFFF"/>
                </a:solidFill>
                <a:latin typeface="Calibri"/>
              </a:defRPr>
            </a:pPr>
            <a:r>
              <a:t>Mitigated through active user training, stakeholder consultations, and user-centric portal interfaces.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TotalTime>
  <Words>2461</Words>
  <Application>Microsoft Office PowerPoint</Application>
  <PresentationFormat>Widescreen</PresentationFormat>
  <Paragraphs>288</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EDSG-JOOPSA</cp:lastModifiedBy>
  <cp:revision>2</cp:revision>
  <dcterms:created xsi:type="dcterms:W3CDTF">2013-01-27T09:14:16Z</dcterms:created>
  <dcterms:modified xsi:type="dcterms:W3CDTF">2026-09-02T15:23:37Z</dcterms:modified>
  <cp:category/>
</cp:coreProperties>
</file>